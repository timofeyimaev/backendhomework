
<file path=[Content_Types].xml><?xml version="1.0" encoding="utf-8"?>
<Types xmlns="http://schemas.openxmlformats.org/package/2006/content-types">
  <Default ContentType="image/png" Extension="png"/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5" cy="5143683"/>
  <p:notesSz cx="5143683" cy="9144005"/>
  <p:defaultTextStyle>
    <a:defPPr/>
    <a:lvl1pPr lvl="0" marL="0">
      <a:defRPr sz="1600">
        <a:latin typeface="+mn-lt"/>
        <a:ea typeface="+mn-ea"/>
        <a:cs typeface="+mn-cs"/>
      </a:defRPr>
    </a:lvl1pPr>
    <a:lvl2pPr lvl="1" marL="457200">
      <a:defRPr sz="1600">
        <a:latin typeface="+mn-lt"/>
        <a:ea typeface="+mn-ea"/>
        <a:cs typeface="+mn-cs"/>
      </a:defRPr>
    </a:lvl2pPr>
    <a:lvl3pPr lvl="2" marL="914400">
      <a:defRPr sz="1600">
        <a:latin typeface="+mn-lt"/>
        <a:ea typeface="+mn-ea"/>
        <a:cs typeface="+mn-cs"/>
      </a:defRPr>
    </a:lvl3pPr>
    <a:lvl4pPr lvl="3" marL="1371600">
      <a:defRPr sz="1600">
        <a:latin typeface="+mn-lt"/>
        <a:ea typeface="+mn-ea"/>
        <a:cs typeface="+mn-cs"/>
      </a:defRPr>
    </a:lvl4pPr>
    <a:lvl5pPr lvl="4" marL="1828800">
      <a:defRPr sz="1600">
        <a:latin typeface="+mn-lt"/>
        <a:ea typeface="+mn-ea"/>
        <a:cs typeface="+mn-cs"/>
      </a:defRPr>
    </a:lvl5pPr>
    <a:lvl6pPr lvl="5" marL="2286000">
      <a:defRPr sz="1600">
        <a:latin typeface="+mn-lt"/>
        <a:ea typeface="+mn-ea"/>
        <a:cs typeface="+mn-cs"/>
      </a:defRPr>
    </a:lvl6pPr>
    <a:lvl7pPr lvl="6" marL="2743200">
      <a:defRPr sz="1600">
        <a:latin typeface="+mn-lt"/>
        <a:ea typeface="+mn-ea"/>
        <a:cs typeface="+mn-cs"/>
      </a:defRPr>
    </a:lvl7pPr>
    <a:lvl8pPr lvl="7" marL="3200400">
      <a:defRPr sz="1600">
        <a:latin typeface="+mn-lt"/>
        <a:ea typeface="+mn-ea"/>
        <a:cs typeface="+mn-cs"/>
      </a:defRPr>
    </a:lvl8pPr>
    <a:lvl9pPr lvl="8" marL="3657600">
      <a:defRPr sz="1600"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17" Target="slides/slide15.xml" Type="http://schemas.openxmlformats.org/officeDocument/2006/relationships/slide"/>
  <Relationship Id="rId7" Target="slides/slide5.xml" Type="http://schemas.openxmlformats.org/officeDocument/2006/relationships/slide"/>
  <Relationship Id="rId6" Target="slides/slide4.xml" Type="http://schemas.openxmlformats.org/officeDocument/2006/relationships/slide"/>
  <Relationship Id="rId14" Target="slides/slide12.xml" Type="http://schemas.openxmlformats.org/officeDocument/2006/relationships/slide"/>
  <Relationship Id="rId13" Target="slides/slide11.xml" Type="http://schemas.openxmlformats.org/officeDocument/2006/relationships/slide"/>
  <Relationship Id="rId18" Target="slides/slide16.xml" Type="http://schemas.openxmlformats.org/officeDocument/2006/relationships/slide"/>
  <Relationship Id="rId4" Target="slides/slide2.xml" Type="http://schemas.openxmlformats.org/officeDocument/2006/relationships/slide"/>
  <Relationship Id="rId3" Target="slides/slide1.xml" Type="http://schemas.openxmlformats.org/officeDocument/2006/relationships/slide"/>
  <Relationship Id="rId12" Target="slides/slide10.xml" Type="http://schemas.openxmlformats.org/officeDocument/2006/relationships/slide"/>
  <Relationship Id="rId10" Target="slides/slide8.xml" Type="http://schemas.openxmlformats.org/officeDocument/2006/relationships/slide"/>
  <Relationship Id="rId19" Target="slides/slide17.xml" Type="http://schemas.openxmlformats.org/officeDocument/2006/relationships/slide"/>
  <Relationship Id="rId5" Target="slides/slide3.xml" Type="http://schemas.openxmlformats.org/officeDocument/2006/relationships/slide"/>
  <Relationship Id="rId11" Target="slides/slide9.xml" Type="http://schemas.openxmlformats.org/officeDocument/2006/relationships/slide"/>
  <Relationship Id="rId8" Target="slides/slide6.xml" Type="http://schemas.openxmlformats.org/officeDocument/2006/relationships/slide"/>
  <Relationship Id="rId16" Target="slides/slide14.xml" Type="http://schemas.openxmlformats.org/officeDocument/2006/relationships/slide"/>
  <Relationship Id="rId20" Target="tableStyles.xml" Type="http://schemas.openxmlformats.org/officeDocument/2006/relationships/tableStyles"/>
  <Relationship Id="rId2" Target="slideMasters/slideMaster1.xml" Type="http://schemas.openxmlformats.org/officeDocument/2006/relationships/slideMaster"/>
  <Relationship Id="rId9" Target="slides/slide7.xml" Type="http://schemas.openxmlformats.org/officeDocument/2006/relationships/slide"/>
  <Relationship Id="rId15" Target="slides/slide13.xml" Type="http://schemas.openxmlformats.org/officeDocument/2006/relationships/slide"/>
  <Relationship Id="rId1" Target="theme/theme1.xml" Type="http://schemas.openxmlformats.org/officeDocument/2006/relationships/them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4" name="GroupShape 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" name="Shape 5"/>
          <p:cNvSpPr txBox="true"/>
          <p:nvPr isPhoto="false">
            <p:ph idx="0" type="title"/>
          </p:nvPr>
        </p:nvSpPr>
        <p:spPr>
          <a:xfrm flipH="false" flipV="false" rot="0">
            <a:off x="1143000" y="841801"/>
            <a:ext cx="6858004" cy="3458823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16" name="GroupShape 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" name="Shape 1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8" name="Shape 18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13" name="GroupShape 1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" name="Shape 14"/>
          <p:cNvSpPr txBox="true"/>
          <p:nvPr isPhoto="false">
            <p:ph idx="0" type="title"/>
          </p:nvPr>
        </p:nvSpPr>
        <p:spPr>
          <a:xfrm flipH="false" flipV="false" rot="0">
            <a:off x="1143000" y="841802"/>
            <a:ext cx="6858004" cy="1790764"/>
          </a:xfrm>
          <a:prstGeom prst="rect">
            <a:avLst/>
          </a:prstGeom>
        </p:spPr>
        <p:txBody>
          <a:bodyPr anchor="b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  <p:sp>
        <p:nvSpPr>
          <p:cNvPr hidden="false" id="15" name="Shape 15"/>
          <p:cNvSpPr txBox="true"/>
          <p:nvPr isPhoto="false">
            <p:ph idx="3" type="subTitle"/>
          </p:nvPr>
        </p:nvSpPr>
        <p:spPr>
          <a:xfrm flipH="false" flipV="false" rot="0">
            <a:off x="1143000" y="2701624"/>
            <a:ext cx="6858004" cy="1241865"/>
          </a:xfrm>
          <a:prstGeom prst="rect">
            <a:avLst/>
          </a:prstGeom>
        </p:spPr>
        <p:txBody>
          <a:bodyPr anchor="t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1pPr>
            <a:lvl2pPr algn="ctr" indent="0" lvl="1" marL="457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2pPr>
            <a:lvl3pPr algn="ctr" indent="0" lvl="2" marL="914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3pPr>
            <a:lvl4pPr algn="ctr" indent="0" lvl="3" marL="1371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4pPr>
            <a:lvl5pPr algn="ctr" indent="0" lvl="4" marL="18288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5pPr>
            <a:lvl6pPr algn="ctr" indent="0" lvl="5" marL="2286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6pPr>
            <a:lvl7pPr algn="ctr" indent="0" lvl="6" marL="2743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7pPr>
            <a:lvl8pPr algn="ctr" indent="0" lvl="7" marL="3200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8pPr>
            <a:lvl9pPr algn="ctr" indent="0" lvl="8" marL="3657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6" name="GroupShape 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" name="Shape 7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8" name="GroupShape 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" name="Shape 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0" name="Shape 10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1" name="Shape 11"/>
          <p:cNvSpPr txBox="true"/>
          <p:nvPr isPhoto="false">
            <p:ph idx="2" type="body"/>
          </p:nvPr>
        </p:nvSpPr>
        <p:spPr>
          <a:xfrm flipH="false" flipV="false" rot="0">
            <a:off x="4629152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2" name="GroupShape 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4" Target="../slideLayouts/slideLayout3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chemeClr val="bg1"/>
        </a:solidFill>
      </p:bgPr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4" cy="994207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ctr" bIns="45000" lIns="90000" rIns="90000" tIns="45000">
            <a:normAutofit fontScale="100%" lnSpcReduction="0%"/>
          </a:bodyPr>
          <a:p/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4" cy="3263619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t" bIns="45000" lIns="90000" rIns="90000" tIns="45000">
            <a:normAutofit fontScale="100%" lnSpcReduction="0%"/>
          </a:bodyPr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defPPr/>
      <a:lvl1pPr algn="l" indent="0" lvl="0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1pPr>
      <a:lvl2pPr algn="l" indent="0" lvl="1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2pPr>
      <a:lvl3pPr algn="l" indent="0" lvl="2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3pPr>
      <a:lvl4pPr algn="l" indent="0" lvl="3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4pPr>
      <a:lvl5pPr algn="l" indent="0" lvl="4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5pPr>
      <a:lvl6pPr algn="l" indent="0" lvl="5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6pPr>
      <a:lvl7pPr algn="l" indent="0" lvl="6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7pPr>
      <a:lvl8pPr algn="l" indent="0" lvl="7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8pPr>
      <a:lvl9pPr algn="l" indent="0" lvl="8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9pPr>
    </p:titleStyle>
    <p:bodyStyle>
      <a:defPPr/>
      <a:lvl1pPr algn="l" indent="-314325" lvl="0" marL="31432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800">
          <a:latin typeface="+mn-lt"/>
          <a:ea typeface="+mn-ea"/>
          <a:cs typeface="+mn-cs"/>
        </a:defRPr>
      </a:lvl1pPr>
      <a:lvl2pPr algn="l" indent="-279400" lvl="1" marL="736600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600">
          <a:latin typeface="+mn-lt"/>
          <a:ea typeface="+mn-ea"/>
          <a:cs typeface="+mn-cs"/>
        </a:defRPr>
      </a:lvl2pPr>
      <a:lvl3pPr algn="l" indent="-244475" lvl="2" marL="1158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3pPr>
      <a:lvl4pPr algn="l" indent="-244475" lvl="3" marL="1616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4pPr>
      <a:lvl5pPr algn="l" indent="-244475" lvl="4" marL="20732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5pPr>
      <a:lvl6pPr algn="l" indent="-244475" lvl="5" marL="25304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6pPr>
      <a:lvl7pPr algn="l" indent="-244475" lvl="6" marL="29876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7pPr>
      <a:lvl8pPr algn="l" indent="-244475" lvl="7" marL="3444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8pPr>
      <a:lvl9pPr algn="l" indent="-244475" lvl="8" marL="3902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9pPr>
    </p:bodyStyle>
    <p:otherStyle>
      <a:defPPr/>
      <a:lvl1pPr lvl="0">
        <a:defRPr sz="1600">
          <a:latin typeface="+mn-lt"/>
          <a:ea typeface="+mn-ea"/>
          <a:cs typeface="+mn-cs"/>
        </a:defRPr>
      </a:lvl1pPr>
      <a:lvl2pPr lvl="1">
        <a:defRPr sz="1600">
          <a:latin typeface="+mn-lt"/>
          <a:ea typeface="+mn-ea"/>
          <a:cs typeface="+mn-cs"/>
        </a:defRPr>
      </a:lvl2pPr>
      <a:lvl3pPr lvl="2">
        <a:defRPr sz="1600">
          <a:latin typeface="+mn-lt"/>
          <a:ea typeface="+mn-ea"/>
          <a:cs typeface="+mn-cs"/>
        </a:defRPr>
      </a:lvl3pPr>
      <a:lvl4pPr lvl="3">
        <a:defRPr sz="1600">
          <a:latin typeface="+mn-lt"/>
          <a:ea typeface="+mn-ea"/>
          <a:cs typeface="+mn-cs"/>
        </a:defRPr>
      </a:lvl4pPr>
      <a:lvl5pPr lvl="4">
        <a:defRPr sz="1600">
          <a:latin typeface="+mn-lt"/>
          <a:ea typeface="+mn-ea"/>
          <a:cs typeface="+mn-cs"/>
        </a:defRPr>
      </a:lvl5pPr>
      <a:lvl6pPr lvl="5">
        <a:defRPr sz="1600">
          <a:latin typeface="+mn-lt"/>
          <a:ea typeface="+mn-ea"/>
          <a:cs typeface="+mn-cs"/>
        </a:defRPr>
      </a:lvl6pPr>
      <a:lvl7pPr lvl="6">
        <a:defRPr sz="1600">
          <a:latin typeface="+mn-lt"/>
          <a:ea typeface="+mn-ea"/>
          <a:cs typeface="+mn-cs"/>
        </a:defRPr>
      </a:lvl7pPr>
      <a:lvl8pPr lvl="7">
        <a:defRPr sz="1600">
          <a:latin typeface="+mn-lt"/>
          <a:ea typeface="+mn-ea"/>
          <a:cs typeface="+mn-cs"/>
        </a:defRPr>
      </a:lvl8pPr>
      <a:lvl9pPr lvl="8">
        <a:defRPr sz="16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media/1.png" Type="http://schemas.openxmlformats.org/officeDocument/2006/relationships/image"/>
  <Relationship Id="rId2" Target="../media/2.png" Type="http://schemas.openxmlformats.org/officeDocument/2006/relationships/image"/>
  <Relationship Id="rId3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media/3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6" Target="../slideLayouts/slideLayout2.xml" Type="http://schemas.openxmlformats.org/officeDocument/2006/relationships/slideLayout"/>
  <Relationship Id="rId1" Target="../media/4.png" Type="http://schemas.openxmlformats.org/officeDocument/2006/relationships/image"/>
  <Relationship Id="rId2" Target="../media/5.png" Type="http://schemas.openxmlformats.org/officeDocument/2006/relationships/image"/>
  <Relationship Id="rId3" Target="../media/6.png" Type="http://schemas.openxmlformats.org/officeDocument/2006/relationships/image"/>
  <Relationship Id="rId4" Target="../media/7.png" Type="http://schemas.openxmlformats.org/officeDocument/2006/relationships/image"/>
  <Relationship Id="rId5" Target="../media/8.png" Type="http://schemas.openxmlformats.org/officeDocument/2006/relationships/image"/>
</Relationships>

</file>

<file path=ppt/slides/_rels/slide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media/9.png" Type="http://schemas.openxmlformats.org/officeDocument/2006/relationships/image"/>
  <Relationship Id="rId2" Target="../media/10.png" Type="http://schemas.openxmlformats.org/officeDocument/2006/relationships/image"/>
  <Relationship Id="rId3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media/11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9.xml.rels><?xml version="1.0" encoding="UTF-8" standalone="no" ?>
<Relationships xmlns="http://schemas.openxmlformats.org/package/2006/relationships">
  <Relationship Id="rId1" Target="../media/12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0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1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2.xml.rels><?xml version="1.0" encoding="UTF-8" standalone="no" ?>
<Relationships xmlns="http://schemas.openxmlformats.org/package/2006/relationships">
  <Relationship Id="rId1" Target="../media/13.png" Type="http://schemas.openxmlformats.org/officeDocument/2006/relationships/image"/>
  <Relationship Id="rId2" Target="../media/14.png" Type="http://schemas.openxmlformats.org/officeDocument/2006/relationships/image"/>
  <Relationship Id="rId3" Target="../slideLayouts/slideLayout2.xml" Type="http://schemas.openxmlformats.org/officeDocument/2006/relationships/slideLayout"/>
</Relationships>

</file>

<file path=ppt/slides/_rels/slide13.xml.rels><?xml version="1.0" encoding="UTF-8" standalone="no" ?>
<Relationships xmlns="http://schemas.openxmlformats.org/package/2006/relationships">
  <Relationship Id="rId1" Target="../media/15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4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5.xml.rels><?xml version="1.0" encoding="UTF-8" standalone="no" ?>
<Relationships xmlns="http://schemas.openxmlformats.org/package/2006/relationships">
  <Relationship Id="rId1" Target="../media/16.png" Type="http://schemas.openxmlformats.org/officeDocument/2006/relationships/image"/>
  <Relationship Id="rId2" Target="../slideLayouts/slideLayout2.xml" Type="http://schemas.openxmlformats.org/officeDocument/2006/relationships/slideLayout"/>
</Relationships>

</file>

<file path=ppt/slides/_rels/slide1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17.xml.rels><?xml version="1.0" encoding="UTF-8" standalone="no" ?>
<Relationships xmlns="http://schemas.openxmlformats.org/package/2006/relationships">
  <Relationship Id="rId1" Target="https://console.cloud.google.com/" TargetMode="External" Type="http://schemas.openxmlformats.org/officeDocument/2006/relationships/hyperlink"/>
  <Relationship Id="rId2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" name="Shape 2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OAuth</a:t>
            </a:r>
          </a:p>
          <a:p>
            <a:r>
              <a:rPr sz="1400"/>
              <a:t>2.0</a:t>
            </a:r>
            <a:endParaRPr sz="1400"/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1" name="GroupShape 2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" name="Shape 2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мы все с этим сталкивались</a:t>
            </a:r>
          </a:p>
        </p:txBody>
      </p:sp>
      <p:sp>
        <p:nvSpPr>
          <p:cNvPr hidden="false" id="23" name="Shape 23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  <p:pic>
        <p:nvPicPr>
          <p:cNvPr hidden="false" id="25" name="Picture 25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5081927" y="3529152"/>
            <a:ext cx="3685922" cy="1846993"/>
          </a:xfrm>
          <a:prstGeom prst="rect">
            <a:avLst/>
          </a:prstGeom>
        </p:spPr>
      </p:pic>
      <p:pic>
        <p:nvPicPr>
          <p:cNvPr hidden="false" id="27" name="Picture 27"/>
          <p:cNvPicPr preferRelativeResize="true"/>
          <p:nvPr isPhoto="false"/>
        </p:nvPicPr>
        <p:blipFill>
          <a:blip r:embed="rId2"/>
        </p:blipFill>
        <p:spPr>
          <a:xfrm flipH="false" flipV="false" rot="0">
            <a:off x="887078" y="1027637"/>
            <a:ext cx="7001713" cy="2526906"/>
          </a:xfrm>
          <a:prstGeom prst="rect">
            <a:avLst/>
          </a:prstGeom>
        </p:spPr>
      </p:pic>
      <p:sp>
        <p:nvSpPr>
          <p:cNvPr hidden="false" id="28" name="Shape 28"/>
          <p:cNvSpPr txBox="true"/>
          <p:nvPr isPhoto="false"/>
        </p:nvSpPr>
        <p:spPr>
          <a:xfrm flipH="false" flipV="false" rot="0">
            <a:off x="819730" y="3673470"/>
            <a:ext cx="3600002" cy="110259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причём эти сайты не узнают пароль и может даже логин от сайта, через который мы авторизуемся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9" name="GroupShape 2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0" name="Shape 3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Зачем нужно?</a:t>
            </a:r>
          </a:p>
        </p:txBody>
      </p:sp>
      <p:sp>
        <p:nvSpPr>
          <p:cNvPr hidden="false" id="31" name="Shape 31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  <a:r>
              <a:t>OAuth 2.0 – это протокол авторизации, позволяющий выдать одному сервису права на доступ к ресурсам пользователя на другом сервисе. Причём выдаётся ограниченный набор прав, не сразу все</a:t>
            </a:r>
          </a:p>
        </p:txBody>
      </p:sp>
      <p:pic>
        <p:nvPicPr>
          <p:cNvPr hidden="false" id="33" name="Picture 33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2099351" y="2326500"/>
            <a:ext cx="4641279" cy="2346715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4" name="GroupShape 3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5" name="Shape 3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В Oauth 2.0 четыре сущности</a:t>
            </a:r>
          </a:p>
        </p:txBody>
      </p:sp>
      <p:sp>
        <p:nvSpPr>
          <p:cNvPr hidden="false" id="36" name="Shape 36"/>
          <p:cNvSpPr txBox="true"/>
          <p:nvPr isPhoto="false">
            <p:ph idx="1" type="body"/>
          </p:nvPr>
        </p:nvSpPr>
        <p:spPr>
          <a:xfrm flipH="false" flipV="false" rot="0">
            <a:off x="194351" y="1075743"/>
            <a:ext cx="6318446" cy="3773544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r>
              <a:rPr b="true"/>
              <a:t>Владелец ресурса</a:t>
            </a:r>
            <a:r>
              <a:t> – пользователь который владеет данными и может разрешить доступ к ним</a:t>
            </a:r>
          </a:p>
          <a:p>
            <a:pPr indent="0" marL="0">
              <a:buNone/>
            </a:pPr>
          </a:p>
          <a:p>
            <a:r>
              <a:rPr b="true"/>
              <a:t>Клиент</a:t>
            </a:r>
            <a:r>
              <a:t> – приложение, которое запрашивает доступ к данным</a:t>
            </a:r>
          </a:p>
          <a:p>
            <a:pPr indent="0" marL="0">
              <a:buNone/>
            </a:pPr>
          </a:p>
          <a:p>
            <a:r>
              <a:rPr b="true"/>
              <a:t>Сервер авторизации</a:t>
            </a:r>
            <a:r>
              <a:t> – сервис, который проверяет личность владельца, запрашивает разрешения и выдаёт токены</a:t>
            </a:r>
          </a:p>
          <a:p>
            <a:pPr indent="0" marL="0">
              <a:buNone/>
            </a:pPr>
          </a:p>
          <a:p>
            <a:r>
              <a:rPr b="true"/>
              <a:t>Ресурсный сервер</a:t>
            </a:r>
            <a:r>
              <a:t> – сервер, который хранит данные и предоставляет к ним доступ по токену</a:t>
            </a:r>
          </a:p>
          <a:p>
            <a:pPr indent="0" marL="0">
              <a:buNone/>
            </a:pPr>
          </a:p>
        </p:txBody>
      </p:sp>
      <p:pic>
        <p:nvPicPr>
          <p:cNvPr hidden="false" id="38" name="Picture 38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8158165" y="895349"/>
            <a:ext cx="814138" cy="814137"/>
          </a:xfrm>
          <a:prstGeom prst="rect">
            <a:avLst/>
          </a:prstGeom>
        </p:spPr>
      </p:pic>
      <p:pic>
        <p:nvPicPr>
          <p:cNvPr hidden="false" id="40" name="Picture 40"/>
          <p:cNvPicPr preferRelativeResize="true"/>
          <p:nvPr isPhoto="false"/>
        </p:nvPicPr>
        <p:blipFill>
          <a:blip r:embed="rId2"/>
        </p:blipFill>
        <p:spPr>
          <a:xfrm flipH="false" flipV="false" rot="0">
            <a:off x="7689275" y="3076955"/>
            <a:ext cx="1397827" cy="646094"/>
          </a:xfrm>
          <a:prstGeom prst="rect">
            <a:avLst/>
          </a:prstGeom>
        </p:spPr>
      </p:pic>
      <p:sp>
        <p:nvSpPr>
          <p:cNvPr hidden="false" id="41" name="Shape 41"/>
          <p:cNvSpPr txBox="false"/>
          <p:nvPr isPhoto="false"/>
        </p:nvSpPr>
        <p:spPr>
          <a:xfrm flipH="true" flipV="false" rot="0">
            <a:off x="7786690" y="1695449"/>
            <a:ext cx="466725" cy="314325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42" name="Shape 42"/>
          <p:cNvSpPr txBox="false"/>
          <p:nvPr isPhoto="false"/>
        </p:nvSpPr>
        <p:spPr>
          <a:xfrm flipH="false" flipV="false" rot="0">
            <a:off x="8093366" y="2894152"/>
            <a:ext cx="346363" cy="24053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pic>
        <p:nvPicPr>
          <p:cNvPr hidden="false" id="44" name="Picture 44"/>
          <p:cNvPicPr preferRelativeResize="true"/>
          <p:nvPr isPhoto="false"/>
        </p:nvPicPr>
        <p:blipFill>
          <a:blip r:embed="rId3"/>
        </p:blipFill>
        <p:spPr>
          <a:xfrm flipH="false" flipV="false" rot="0">
            <a:off x="6909957" y="1932030"/>
            <a:ext cx="1789518" cy="1006562"/>
          </a:xfrm>
          <a:prstGeom prst="rect">
            <a:avLst/>
          </a:prstGeom>
        </p:spPr>
      </p:pic>
      <p:pic>
        <p:nvPicPr>
          <p:cNvPr hidden="false" id="46" name="Picture 46"/>
          <p:cNvPicPr preferRelativeResize="true"/>
          <p:nvPr isPhoto="false"/>
        </p:nvPicPr>
        <p:blipFill>
          <a:blip r:embed="rId4"/>
        </p:blipFill>
        <p:spPr>
          <a:xfrm flipH="false" flipV="false" rot="0">
            <a:off x="6621320" y="4183394"/>
            <a:ext cx="1049245" cy="549298"/>
          </a:xfrm>
          <a:prstGeom prst="rect">
            <a:avLst/>
          </a:prstGeom>
        </p:spPr>
      </p:pic>
      <p:pic>
        <p:nvPicPr>
          <p:cNvPr hidden="false" id="48" name="Picture 48"/>
          <p:cNvPicPr preferRelativeResize="true"/>
          <p:nvPr isPhoto="false"/>
        </p:nvPicPr>
        <p:blipFill>
          <a:blip r:embed="rId5"/>
        </p:blipFill>
        <p:spPr>
          <a:xfrm flipH="false" flipV="false" rot="0">
            <a:off x="7987533" y="4221879"/>
            <a:ext cx="842059" cy="607491"/>
          </a:xfrm>
          <a:prstGeom prst="rect">
            <a:avLst/>
          </a:prstGeom>
        </p:spPr>
      </p:pic>
      <p:sp>
        <p:nvSpPr>
          <p:cNvPr hidden="false" id="49" name="Shape 49"/>
          <p:cNvSpPr txBox="true"/>
          <p:nvPr isPhoto="false"/>
        </p:nvSpPr>
        <p:spPr>
          <a:xfrm flipH="false" flipV="false" rot="0">
            <a:off x="2772001" y="1905091"/>
            <a:ext cx="3600002" cy="13335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0" name="Shape 50"/>
          <p:cNvSpPr txBox="false"/>
          <p:nvPr isPhoto="false"/>
        </p:nvSpPr>
        <p:spPr>
          <a:xfrm flipH="true" flipV="false" rot="0">
            <a:off x="6823366" y="2932637"/>
            <a:ext cx="240530" cy="130848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51" name="Shape 51"/>
          <p:cNvSpPr txBox="false"/>
          <p:nvPr isPhoto="false"/>
        </p:nvSpPr>
        <p:spPr>
          <a:xfrm flipH="false" flipV="false" rot="0">
            <a:off x="7150487" y="2932637"/>
            <a:ext cx="856288" cy="1318106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52" name="Shape 52"/>
          <p:cNvSpPr txBox="false"/>
          <p:nvPr isPhoto="false"/>
        </p:nvSpPr>
        <p:spPr>
          <a:xfrm flipH="false" flipV="true" rot="0">
            <a:off x="7429503" y="3490667"/>
            <a:ext cx="202045" cy="19242"/>
          </a:xfrm>
          <a:prstGeom prst="line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53" name="Shape 53"/>
          <p:cNvSpPr txBox="false"/>
          <p:nvPr isPhoto="false"/>
        </p:nvSpPr>
        <p:spPr>
          <a:xfrm flipH="false" flipV="true" rot="0">
            <a:off x="7448745" y="3384833"/>
            <a:ext cx="182802" cy="192424"/>
          </a:xfrm>
          <a:prstGeom prst="line">
            <a:avLst/>
          </a:prstGeom>
          <a:noFill/>
          <a:ln w="12700">
            <a:solidFill>
              <a:schemeClr val="tx1">
                <a:lumMod val="95000"/>
                <a:lumOff val="5000"/>
              </a:schemeClr>
            </a:solidFill>
            <a:prstDash val="solid"/>
            <a:headEnd type="none"/>
            <a:tailEnd type="none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54" name="Shape 54"/>
          <p:cNvSpPr txBox="false"/>
          <p:nvPr isPhoto="false"/>
        </p:nvSpPr>
        <p:spPr>
          <a:xfrm flipH="false" flipV="false" rot="0">
            <a:off x="8891590" y="1704974"/>
            <a:ext cx="9525" cy="1352549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55" name="GroupShape 5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6" name="Shape 56"/>
          <p:cNvSpPr txBox="true"/>
          <p:nvPr isPhoto="false"/>
        </p:nvSpPr>
        <p:spPr>
          <a:xfrm flipH="false" flipV="false" rot="0">
            <a:off x="338140" y="152400"/>
            <a:ext cx="1275902" cy="628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Илон маск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владелец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7" name="Shape 57"/>
          <p:cNvSpPr txBox="true"/>
          <p:nvPr isPhoto="false"/>
        </p:nvSpPr>
        <p:spPr>
          <a:xfrm flipH="false" flipV="false" rot="0">
            <a:off x="1928815" y="142874"/>
            <a:ext cx="1723577" cy="5048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 клиент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8" name="Shape 58"/>
          <p:cNvSpPr txBox="true"/>
          <p:nvPr isPhoto="false"/>
        </p:nvSpPr>
        <p:spPr>
          <a:xfrm flipH="false" flipV="false" rot="0">
            <a:off x="3843340" y="123824"/>
            <a:ext cx="2409377" cy="6477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59" name="Shape 59"/>
          <p:cNvSpPr txBox="true"/>
          <p:nvPr isPhoto="false"/>
        </p:nvSpPr>
        <p:spPr>
          <a:xfrm flipH="false" flipV="false" rot="0">
            <a:off x="6319840" y="152399"/>
            <a:ext cx="2695127" cy="7239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 диск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(ресурсный сервер)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0" name="Shape 60"/>
          <p:cNvSpPr txBox="false"/>
          <p:nvPr isPhoto="false"/>
        </p:nvSpPr>
        <p:spPr>
          <a:xfrm flipH="false" flipV="false" rot="0">
            <a:off x="890590" y="790574"/>
            <a:ext cx="0" cy="46196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1" name="Shape 61"/>
          <p:cNvSpPr txBox="false"/>
          <p:nvPr isPhoto="false"/>
        </p:nvSpPr>
        <p:spPr>
          <a:xfrm flipH="false" flipV="false" rot="0">
            <a:off x="3633790" y="619124"/>
            <a:ext cx="0" cy="50387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2" name="Shape 62"/>
          <p:cNvSpPr txBox="false"/>
          <p:nvPr isPhoto="false"/>
        </p:nvSpPr>
        <p:spPr>
          <a:xfrm flipH="false" flipV="false" rot="0">
            <a:off x="6215065" y="761999"/>
            <a:ext cx="0" cy="467677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3" name="Shape 63"/>
          <p:cNvSpPr txBox="false"/>
          <p:nvPr isPhoto="false"/>
        </p:nvSpPr>
        <p:spPr>
          <a:xfrm flipH="false" flipV="false" rot="0">
            <a:off x="8882065" y="866774"/>
            <a:ext cx="0" cy="54959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4" name="Shape 64"/>
          <p:cNvSpPr txBox="false"/>
          <p:nvPr isPhoto="false"/>
        </p:nvSpPr>
        <p:spPr>
          <a:xfrm flipH="false" flipV="false" rot="0">
            <a:off x="900115" y="1171574"/>
            <a:ext cx="2705099" cy="66674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5" name="Shape 65"/>
          <p:cNvSpPr txBox="true"/>
          <p:nvPr isPhoto="false"/>
        </p:nvSpPr>
        <p:spPr>
          <a:xfrm flipH="false" flipV="false" rot="0">
            <a:off x="833440" y="790574"/>
            <a:ext cx="2980877" cy="3810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хочу загрузить файлы из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6" name="Shape 66"/>
          <p:cNvSpPr txBox="true"/>
          <p:nvPr isPhoto="false"/>
        </p:nvSpPr>
        <p:spPr>
          <a:xfrm flipH="false" flipV="false" rot="0">
            <a:off x="871540" y="1343024"/>
            <a:ext cx="3152327" cy="3619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перенаправление в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67" name="Shape 67"/>
          <p:cNvSpPr txBox="false"/>
          <p:nvPr isPhoto="false"/>
        </p:nvSpPr>
        <p:spPr>
          <a:xfrm flipH="true" flipV="false" rot="0">
            <a:off x="995365" y="1752599"/>
            <a:ext cx="2590799" cy="952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8" name="Shape 68"/>
          <p:cNvSpPr txBox="false"/>
          <p:nvPr isPhoto="false"/>
        </p:nvSpPr>
        <p:spPr>
          <a:xfrm flipH="false" flipV="false" rot="0">
            <a:off x="947740" y="2247899"/>
            <a:ext cx="5038724" cy="1524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69" name="Shape 69"/>
          <p:cNvSpPr txBox="true"/>
          <p:nvPr isPhoto="false"/>
        </p:nvSpPr>
        <p:spPr>
          <a:xfrm flipH="false" flipV="false" rot="0">
            <a:off x="871540" y="1866899"/>
            <a:ext cx="44763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вводим почту и пароль, на все соглашаемся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0" name="Shape 70"/>
          <p:cNvSpPr txBox="true"/>
          <p:nvPr isPhoto="false"/>
        </p:nvSpPr>
        <p:spPr>
          <a:xfrm flipH="false" flipV="false" rot="0">
            <a:off x="1433515" y="2419349"/>
            <a:ext cx="36000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идём обратно с кодом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1" name="Shape 71"/>
          <p:cNvSpPr txBox="false"/>
          <p:nvPr isPhoto="false"/>
        </p:nvSpPr>
        <p:spPr>
          <a:xfrm flipH="true" flipV="false" rot="0">
            <a:off x="976315" y="2705099"/>
            <a:ext cx="5019674" cy="1143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72" name="Shape 72"/>
          <p:cNvSpPr txBox="false"/>
          <p:nvPr isPhoto="false"/>
        </p:nvSpPr>
        <p:spPr>
          <a:xfrm flipH="false" flipV="false" rot="0">
            <a:off x="976315" y="3076574"/>
            <a:ext cx="2552699" cy="5715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73" name="Shape 73"/>
          <p:cNvSpPr txBox="true"/>
          <p:nvPr isPhoto="false"/>
        </p:nvSpPr>
        <p:spPr>
          <a:xfrm flipH="false" flipV="false" rot="0">
            <a:off x="1547815" y="2790824"/>
            <a:ext cx="2066477" cy="4381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передаём код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4" name="Shape 74"/>
          <p:cNvSpPr txBox="false"/>
          <p:nvPr isPhoto="false"/>
        </p:nvSpPr>
        <p:spPr>
          <a:xfrm flipH="false" flipV="false" rot="0">
            <a:off x="3652840" y="3457574"/>
            <a:ext cx="2428875" cy="2095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75" name="Shape 75"/>
          <p:cNvSpPr txBox="true"/>
          <p:nvPr isPhoto="false"/>
        </p:nvSpPr>
        <p:spPr>
          <a:xfrm flipH="false" flipV="false" rot="0">
            <a:off x="3633790" y="2867024"/>
            <a:ext cx="2542727" cy="60007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объединяем наш секрет и код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6" name="Shape 76"/>
          <p:cNvSpPr txBox="false"/>
          <p:nvPr isPhoto="false"/>
        </p:nvSpPr>
        <p:spPr>
          <a:xfrm flipH="true" flipV="false" rot="0">
            <a:off x="3795715" y="4029074"/>
            <a:ext cx="2333625" cy="2000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77" name="Shape 77"/>
          <p:cNvSpPr txBox="true"/>
          <p:nvPr isPhoto="false"/>
        </p:nvSpPr>
        <p:spPr>
          <a:xfrm flipH="false" flipV="false" rot="0">
            <a:off x="3729040" y="3648074"/>
            <a:ext cx="2666552" cy="6096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получаем access_token и refresh_token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8" name="Shape 78"/>
          <p:cNvSpPr txBox="false"/>
          <p:nvPr isPhoto="false"/>
        </p:nvSpPr>
        <p:spPr>
          <a:xfrm flipH="false" flipV="false" rot="0">
            <a:off x="3652840" y="4476749"/>
            <a:ext cx="5172074" cy="190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79" name="Shape 79"/>
          <p:cNvSpPr txBox="true"/>
          <p:nvPr isPhoto="false"/>
        </p:nvSpPr>
        <p:spPr>
          <a:xfrm flipH="false" flipV="false" rot="0">
            <a:off x="4586290" y="4143374"/>
            <a:ext cx="4447726" cy="5715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 данных используя access_token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0" name="Shape 80"/>
          <p:cNvSpPr txBox="false"/>
          <p:nvPr isPhoto="false"/>
        </p:nvSpPr>
        <p:spPr>
          <a:xfrm flipH="true" flipV="true" rot="0">
            <a:off x="3709990" y="5057774"/>
            <a:ext cx="5124449" cy="95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81" name="Shape 81"/>
          <p:cNvSpPr txBox="true"/>
          <p:nvPr isPhoto="false"/>
        </p:nvSpPr>
        <p:spPr>
          <a:xfrm flipH="false" flipV="false" rot="0">
            <a:off x="4957765" y="4648199"/>
            <a:ext cx="2761802" cy="4762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наши файлы с гугл диска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82" name="GroupShape 8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3" name="Shape 8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  <a:r>
              <a:t>Есть другие разновидности потоков</a:t>
            </a:r>
          </a:p>
        </p:txBody>
      </p:sp>
      <p:pic>
        <p:nvPicPr>
          <p:cNvPr hidden="false" id="85" name="Picture 85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252415" y="1638299"/>
            <a:ext cx="4084366" cy="3086283"/>
          </a:xfrm>
          <a:prstGeom prst="rect">
            <a:avLst/>
          </a:prstGeom>
        </p:spPr>
      </p:pic>
      <p:sp>
        <p:nvSpPr>
          <p:cNvPr hidden="false" id="86" name="Shape 86"/>
          <p:cNvSpPr txBox="true"/>
          <p:nvPr isPhoto="false"/>
        </p:nvSpPr>
        <p:spPr>
          <a:xfrm flipH="false" flipV="false" rot="0">
            <a:off x="90490" y="1295399"/>
            <a:ext cx="4647752" cy="4000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бравл старс, мобильное приложение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hidden="false" id="88" name="Picture 88"/>
          <p:cNvPicPr preferRelativeResize="true"/>
          <p:nvPr isPhoto="false"/>
        </p:nvPicPr>
        <p:blipFill>
          <a:blip r:embed="rId2"/>
        </p:blipFill>
        <p:spPr>
          <a:xfrm flipH="false" flipV="false" rot="0">
            <a:off x="4329115" y="1514474"/>
            <a:ext cx="5600706" cy="2726433"/>
          </a:xfrm>
          <a:prstGeom prst="rect">
            <a:avLst/>
          </a:prstGeom>
        </p:spPr>
      </p:pic>
      <p:sp>
        <p:nvSpPr>
          <p:cNvPr hidden="false" id="89" name="Shape 89"/>
          <p:cNvSpPr txBox="true"/>
          <p:nvPr isPhoto="false"/>
        </p:nvSpPr>
        <p:spPr>
          <a:xfrm flipH="false" flipV="false" rot="0">
            <a:off x="4243390" y="1028699"/>
            <a:ext cx="4990652" cy="5429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происходит без участия пользователя, например общение госуслуги и военкомат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0" name="Shape 90"/>
          <p:cNvSpPr txBox="true"/>
          <p:nvPr isPhoto="false"/>
        </p:nvSpPr>
        <p:spPr>
          <a:xfrm flipH="false" flipV="false" rot="0">
            <a:off x="2424115" y="4695824"/>
            <a:ext cx="3600002" cy="3238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OAuth2.0 – Это гибкий фреймворк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1" name="GroupShape 9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2" name="Shape 9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попробуем console.cloud.google.com</a:t>
            </a:r>
          </a:p>
        </p:txBody>
      </p:sp>
      <p:sp>
        <p:nvSpPr>
          <p:cNvPr hidden="false" id="93" name="Shape 9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r>
              <a:t>три полоски</a:t>
            </a:r>
          </a:p>
          <a:p>
            <a:r>
              <a:t>APIs &amp; Services</a:t>
            </a:r>
          </a:p>
          <a:p>
            <a:r>
              <a:t>OAuth</a:t>
            </a:r>
          </a:p>
          <a:p>
            <a:r>
              <a:t>Clients</a:t>
            </a:r>
          </a:p>
          <a:p>
            <a:r>
              <a:t>create project</a:t>
            </a:r>
          </a:p>
          <a:p>
            <a:pPr indent="0" marL="0">
              <a:buNone/>
            </a:pP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4" name="GroupShape 9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5" name="Shape 9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1. Запрос перенаправления пользователя</a:t>
            </a:r>
          </a:p>
        </p:txBody>
      </p:sp>
      <p:sp>
        <p:nvSpPr>
          <p:cNvPr hidden="false" id="96" name="Shape 96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4" cy="3768444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</a:p>
          <a:p>
            <a:pPr indent="0" marL="0">
              <a:buNone/>
            </a:pPr>
          </a:p>
          <a:p>
            <a:pPr indent="0" marL="0">
              <a:buNone/>
            </a:pPr>
          </a:p>
          <a:p>
            <a:pPr indent="0" marL="0">
              <a:buNone/>
            </a:pPr>
          </a:p>
          <a:p>
            <a:pPr indent="0" marL="0">
              <a:buNone/>
            </a:pPr>
          </a:p>
          <a:p>
            <a:pPr indent="0" marL="0">
              <a:buNone/>
            </a:pPr>
            <a:r>
              <a:t>п</a:t>
            </a:r>
          </a:p>
          <a:p>
            <a:pPr indent="0" marL="0">
              <a:buNone/>
            </a:pPr>
            <a:r>
              <a:t>response_type=code – выбираем нашу стандартную схему OAuth, где мы получаем код авторизации</a:t>
            </a:r>
          </a:p>
          <a:p>
            <a:pPr indent="0" marL="0">
              <a:buNone/>
            </a:pPr>
            <a:r>
              <a:t>redirect_uri – куда сделать запрос вместе с авторизационным кодом</a:t>
            </a:r>
          </a:p>
          <a:p>
            <a:pPr indent="0" marL="0">
              <a:buNone/>
            </a:pPr>
            <a:r>
              <a:t>state – это </a:t>
            </a:r>
            <a:r>
              <a:rPr b="false" i="false" spc="0">
                <a:solidFill>
                  <a:srgbClr val="0F1115"/>
                </a:solidFill>
                <a:highlight>
                  <a:srgbClr val="FFFFFF"/>
                </a:highlight>
                <a:latin typeface="quote-cjk-patch"/>
                <a:ea typeface="quote-cjk-patch"/>
                <a:cs typeface="quote-cjk-patch"/>
              </a:rPr>
              <a:t>CSRF-токен</a:t>
            </a:r>
          </a:p>
          <a:p>
            <a:pPr indent="0" marL="0">
              <a:buNone/>
            </a:pPr>
          </a:p>
        </p:txBody>
      </p:sp>
      <p:pic>
        <p:nvPicPr>
          <p:cNvPr hidden="false" id="98" name="Picture 98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652465" y="1228724"/>
            <a:ext cx="4799929" cy="241901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9" name="GroupShape 9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0" name="Shape 10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2. обмен кода на токен</a:t>
            </a:r>
          </a:p>
        </p:txBody>
      </p:sp>
      <p:sp>
        <p:nvSpPr>
          <p:cNvPr hidden="false" id="101" name="Shape 101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indent="0" marL="0">
              <a:buNone/>
            </a:pPr>
          </a:p>
          <a:p>
            <a:pPr indent="0" marL="0">
              <a:buNone/>
            </a:pPr>
          </a:p>
          <a:p>
            <a:pPr indent="0" marL="0">
              <a:buNone/>
            </a:pPr>
          </a:p>
          <a:p>
            <a:pPr indent="0" marL="0">
              <a:buNone/>
            </a:pPr>
          </a:p>
          <a:p>
            <a:pPr indent="0" marL="0">
              <a:buNone/>
            </a:pPr>
          </a:p>
          <a:p>
            <a:pPr indent="0" marL="0">
              <a:buNone/>
            </a:pPr>
            <a:r>
              <a:t>отправляем код авторизации, наше id и секрет</a:t>
            </a:r>
          </a:p>
          <a:p>
            <a:pPr indent="0" marL="0">
              <a:buNone/>
            </a:pPr>
            <a:r>
              <a:rPr b="true"/>
              <a:t>grant_type</a:t>
            </a:r>
            <a:r>
              <a:t> – выбираем схему OAuth которую используем, тоесть обмениваем токены авторизации на ключи к серверам ресурсов</a:t>
            </a:r>
          </a:p>
          <a:p>
            <a:pPr indent="0" marL="0">
              <a:buNone/>
            </a:pPr>
            <a:r>
              <a:rPr b="true"/>
              <a:t>redirect uri </a:t>
            </a:r>
            <a:r>
              <a:t>– доказать, что ты тот самый, для кого был выслан этот код</a:t>
            </a:r>
          </a:p>
        </p:txBody>
      </p:sp>
      <p:pic>
        <p:nvPicPr>
          <p:cNvPr hidden="false" id="103" name="Picture 103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471490" y="1133474"/>
            <a:ext cx="6942860" cy="2009524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04" name="GroupShape 10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5" name="Shape 105"/>
          <p:cNvSpPr txBox="true"/>
          <p:nvPr isPhoto="false"/>
        </p:nvSpPr>
        <p:spPr>
          <a:xfrm flipH="false" flipV="false" rot="0">
            <a:off x="338140" y="152400"/>
            <a:ext cx="1275902" cy="628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Илон маск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владелец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6" name="Shape 106"/>
          <p:cNvSpPr txBox="true"/>
          <p:nvPr isPhoto="false"/>
        </p:nvSpPr>
        <p:spPr>
          <a:xfrm flipH="false" flipV="false" rot="0">
            <a:off x="1928815" y="142874"/>
            <a:ext cx="1723577" cy="5048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 клиент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7" name="Shape 107"/>
          <p:cNvSpPr txBox="true"/>
          <p:nvPr isPhoto="false"/>
        </p:nvSpPr>
        <p:spPr>
          <a:xfrm flipH="false" flipV="false" rot="0">
            <a:off x="3843340" y="123824"/>
            <a:ext cx="2409377" cy="6477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8" name="Shape 108"/>
          <p:cNvSpPr txBox="true"/>
          <p:nvPr isPhoto="false"/>
        </p:nvSpPr>
        <p:spPr>
          <a:xfrm flipH="false" flipV="false" rot="0">
            <a:off x="6319840" y="152399"/>
            <a:ext cx="2695127" cy="7239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 диск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(ресурсный сервер)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9" name="Shape 109"/>
          <p:cNvSpPr txBox="false"/>
          <p:nvPr isPhoto="false"/>
        </p:nvSpPr>
        <p:spPr>
          <a:xfrm flipH="false" flipV="false" rot="0">
            <a:off x="890590" y="790574"/>
            <a:ext cx="0" cy="46196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10" name="Shape 110"/>
          <p:cNvSpPr txBox="false"/>
          <p:nvPr isPhoto="false"/>
        </p:nvSpPr>
        <p:spPr>
          <a:xfrm flipH="false" flipV="false" rot="0">
            <a:off x="3633790" y="619124"/>
            <a:ext cx="0" cy="50387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11" name="Shape 111"/>
          <p:cNvSpPr txBox="false"/>
          <p:nvPr isPhoto="false"/>
        </p:nvSpPr>
        <p:spPr>
          <a:xfrm flipH="false" flipV="false" rot="0">
            <a:off x="6215065" y="761999"/>
            <a:ext cx="0" cy="467677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12" name="Shape 112"/>
          <p:cNvSpPr txBox="false"/>
          <p:nvPr isPhoto="false"/>
        </p:nvSpPr>
        <p:spPr>
          <a:xfrm flipH="false" flipV="false" rot="0">
            <a:off x="8882065" y="866774"/>
            <a:ext cx="0" cy="54959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13" name="Shape 113"/>
          <p:cNvSpPr txBox="false"/>
          <p:nvPr isPhoto="false"/>
        </p:nvSpPr>
        <p:spPr>
          <a:xfrm flipH="false" flipV="false" rot="0">
            <a:off x="900115" y="1171574"/>
            <a:ext cx="2705099" cy="66674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14" name="Shape 114"/>
          <p:cNvSpPr txBox="true"/>
          <p:nvPr isPhoto="false"/>
        </p:nvSpPr>
        <p:spPr>
          <a:xfrm flipH="false" flipV="false" rot="0">
            <a:off x="833440" y="790574"/>
            <a:ext cx="2980877" cy="3810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хочу загрузить файлы из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5" name="Shape 115"/>
          <p:cNvSpPr txBox="true"/>
          <p:nvPr isPhoto="false"/>
        </p:nvSpPr>
        <p:spPr>
          <a:xfrm flipH="false" flipV="false" rot="0">
            <a:off x="871540" y="1343024"/>
            <a:ext cx="3152327" cy="3619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перенаправление в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6" name="Shape 116"/>
          <p:cNvSpPr txBox="false"/>
          <p:nvPr isPhoto="false"/>
        </p:nvSpPr>
        <p:spPr>
          <a:xfrm flipH="true" flipV="false" rot="0">
            <a:off x="995365" y="1752599"/>
            <a:ext cx="2590799" cy="952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17" name="Shape 117"/>
          <p:cNvSpPr txBox="false"/>
          <p:nvPr isPhoto="false"/>
        </p:nvSpPr>
        <p:spPr>
          <a:xfrm flipH="false" flipV="false" rot="0">
            <a:off x="947740" y="2247899"/>
            <a:ext cx="5038724" cy="1524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18" name="Shape 118"/>
          <p:cNvSpPr txBox="true"/>
          <p:nvPr isPhoto="false"/>
        </p:nvSpPr>
        <p:spPr>
          <a:xfrm flipH="false" flipV="false" rot="0">
            <a:off x="871540" y="1866899"/>
            <a:ext cx="44763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вводим почту и пароль, на все соглашаемся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9" name="Shape 119"/>
          <p:cNvSpPr txBox="true"/>
          <p:nvPr isPhoto="false"/>
        </p:nvSpPr>
        <p:spPr>
          <a:xfrm flipH="false" flipV="false" rot="0">
            <a:off x="2890840" y="2419349"/>
            <a:ext cx="36000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идём обратно с кодом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0" name="Shape 120"/>
          <p:cNvSpPr txBox="false"/>
          <p:nvPr isPhoto="false"/>
        </p:nvSpPr>
        <p:spPr>
          <a:xfrm flipH="true" flipV="false" rot="0">
            <a:off x="976315" y="2705099"/>
            <a:ext cx="5019674" cy="1143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21" name="Shape 121"/>
          <p:cNvSpPr txBox="false"/>
          <p:nvPr isPhoto="false"/>
        </p:nvSpPr>
        <p:spPr>
          <a:xfrm flipH="false" flipV="false" rot="0">
            <a:off x="976315" y="3076574"/>
            <a:ext cx="2552699" cy="5715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22" name="Shape 122"/>
          <p:cNvSpPr txBox="true"/>
          <p:nvPr isPhoto="false"/>
        </p:nvSpPr>
        <p:spPr>
          <a:xfrm flipH="false" flipV="false" rot="0">
            <a:off x="1547815" y="2790824"/>
            <a:ext cx="2066477" cy="4381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передаём код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3" name="Shape 123"/>
          <p:cNvSpPr txBox="false"/>
          <p:nvPr isPhoto="false"/>
        </p:nvSpPr>
        <p:spPr>
          <a:xfrm flipH="false" flipV="false" rot="0">
            <a:off x="3652840" y="3457574"/>
            <a:ext cx="2428875" cy="2095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24" name="Shape 124"/>
          <p:cNvSpPr txBox="true"/>
          <p:nvPr isPhoto="false"/>
        </p:nvSpPr>
        <p:spPr>
          <a:xfrm flipH="false" flipV="false" rot="0">
            <a:off x="3633790" y="2867024"/>
            <a:ext cx="2542727" cy="60007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объединяем наш секрет и код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5" name="Shape 125"/>
          <p:cNvSpPr txBox="false"/>
          <p:nvPr isPhoto="false"/>
        </p:nvSpPr>
        <p:spPr>
          <a:xfrm flipH="true" flipV="false" rot="0">
            <a:off x="3795715" y="4029074"/>
            <a:ext cx="2333625" cy="2000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26" name="Shape 126"/>
          <p:cNvSpPr txBox="true"/>
          <p:nvPr isPhoto="false"/>
        </p:nvSpPr>
        <p:spPr>
          <a:xfrm flipH="false" flipV="false" rot="0">
            <a:off x="3729040" y="3648074"/>
            <a:ext cx="2666552" cy="6096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получаем access_token и refresh_token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7" name="Shape 127"/>
          <p:cNvSpPr txBox="false"/>
          <p:nvPr isPhoto="false"/>
        </p:nvSpPr>
        <p:spPr>
          <a:xfrm flipH="false" flipV="false" rot="0">
            <a:off x="3652840" y="4476749"/>
            <a:ext cx="5172074" cy="190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28" name="Shape 128"/>
          <p:cNvSpPr txBox="true"/>
          <p:nvPr isPhoto="false"/>
        </p:nvSpPr>
        <p:spPr>
          <a:xfrm flipH="false" flipV="false" rot="0">
            <a:off x="4586290" y="4143374"/>
            <a:ext cx="4447726" cy="5715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 данных используя access_token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9" name="Shape 129"/>
          <p:cNvSpPr txBox="false"/>
          <p:nvPr isPhoto="false"/>
        </p:nvSpPr>
        <p:spPr>
          <a:xfrm flipH="true" flipV="true" rot="0">
            <a:off x="3709990" y="5057774"/>
            <a:ext cx="5124449" cy="95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30" name="Shape 130"/>
          <p:cNvSpPr txBox="true"/>
          <p:nvPr isPhoto="false"/>
        </p:nvSpPr>
        <p:spPr>
          <a:xfrm flipH="false" flipV="false" rot="0">
            <a:off x="4957765" y="4648199"/>
            <a:ext cx="2761802" cy="4762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наши файлы с гугл диска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1" name="Shape 131"/>
          <p:cNvSpPr txBox="true"/>
          <p:nvPr isPhoto="false"/>
        </p:nvSpPr>
        <p:spPr>
          <a:xfrm flipH="false" flipV="false" rot="0">
            <a:off x="3757615" y="723899"/>
            <a:ext cx="2866577" cy="6667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b="true">
                <a:solidFill>
                  <a:srgbClr val="161718"/>
                </a:solidFill>
                <a:latin typeface="+mn-lt"/>
                <a:ea typeface="+mn-ea"/>
                <a:cs typeface="+mn-cs"/>
              </a:rPr>
              <a:t>первый запрос перенаправления</a:t>
            </a:r>
            <a:endParaRPr b="true">
              <a:solidFill>
                <a:srgbClr val="16171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2" name="Shape 132"/>
          <p:cNvSpPr txBox="true"/>
          <p:nvPr isPhoto="false"/>
        </p:nvSpPr>
        <p:spPr>
          <a:xfrm flipH="false" flipV="false" rot="0">
            <a:off x="728665" y="800099"/>
            <a:ext cx="3028502" cy="110490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3" name="Shape 133"/>
          <p:cNvSpPr txBox="true"/>
          <p:nvPr isPhoto="false"/>
        </p:nvSpPr>
        <p:spPr>
          <a:xfrm flipH="false" flipV="false" rot="0">
            <a:off x="-14284" y="2486024"/>
            <a:ext cx="3314252" cy="4000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b="true" sz="20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авторизационный код</a:t>
            </a:r>
            <a:endParaRPr b="true" sz="20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4" name="GroupShape 13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5" name="Shape 135"/>
          <p:cNvSpPr txBox="true"/>
          <p:nvPr isPhoto="false"/>
        </p:nvSpPr>
        <p:spPr>
          <a:xfrm flipH="false" flipV="false" rot="0">
            <a:off x="338140" y="152400"/>
            <a:ext cx="1275902" cy="628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Илон маск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владелец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6" name="Shape 136"/>
          <p:cNvSpPr txBox="true"/>
          <p:nvPr isPhoto="false"/>
        </p:nvSpPr>
        <p:spPr>
          <a:xfrm flipH="false" flipV="false" rot="0">
            <a:off x="1928815" y="142874"/>
            <a:ext cx="1723577" cy="5048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 клиент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7" name="Shape 137"/>
          <p:cNvSpPr txBox="true"/>
          <p:nvPr isPhoto="false"/>
        </p:nvSpPr>
        <p:spPr>
          <a:xfrm flipH="false" flipV="false" rot="0">
            <a:off x="3843340" y="123824"/>
            <a:ext cx="2409377" cy="6477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8" name="Shape 138"/>
          <p:cNvSpPr txBox="true"/>
          <p:nvPr isPhoto="false"/>
        </p:nvSpPr>
        <p:spPr>
          <a:xfrm flipH="false" flipV="false" rot="0">
            <a:off x="6319840" y="152399"/>
            <a:ext cx="2695127" cy="7239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 диск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(ресурсный сервер)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9" name="Shape 139"/>
          <p:cNvSpPr txBox="false"/>
          <p:nvPr isPhoto="false"/>
        </p:nvSpPr>
        <p:spPr>
          <a:xfrm flipH="false" flipV="false" rot="0">
            <a:off x="890590" y="790574"/>
            <a:ext cx="0" cy="46196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40" name="Shape 140"/>
          <p:cNvSpPr txBox="false"/>
          <p:nvPr isPhoto="false"/>
        </p:nvSpPr>
        <p:spPr>
          <a:xfrm flipH="false" flipV="false" rot="0">
            <a:off x="3633790" y="619124"/>
            <a:ext cx="0" cy="50387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41" name="Shape 141"/>
          <p:cNvSpPr txBox="false"/>
          <p:nvPr isPhoto="false"/>
        </p:nvSpPr>
        <p:spPr>
          <a:xfrm flipH="false" flipV="false" rot="0">
            <a:off x="6215065" y="761999"/>
            <a:ext cx="0" cy="467677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42" name="Shape 142"/>
          <p:cNvSpPr txBox="false"/>
          <p:nvPr isPhoto="false"/>
        </p:nvSpPr>
        <p:spPr>
          <a:xfrm flipH="false" flipV="false" rot="0">
            <a:off x="8882065" y="866774"/>
            <a:ext cx="0" cy="54959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43" name="Shape 143"/>
          <p:cNvSpPr txBox="false"/>
          <p:nvPr isPhoto="false"/>
        </p:nvSpPr>
        <p:spPr>
          <a:xfrm flipH="false" flipV="false" rot="0">
            <a:off x="900115" y="1171574"/>
            <a:ext cx="2705099" cy="66674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44" name="Shape 144"/>
          <p:cNvSpPr txBox="true"/>
          <p:nvPr isPhoto="false"/>
        </p:nvSpPr>
        <p:spPr>
          <a:xfrm flipH="false" flipV="false" rot="0">
            <a:off x="833440" y="790574"/>
            <a:ext cx="2980877" cy="3810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хочу загрузить файлы из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5" name="Shape 145"/>
          <p:cNvSpPr txBox="true"/>
          <p:nvPr isPhoto="false"/>
        </p:nvSpPr>
        <p:spPr>
          <a:xfrm flipH="false" flipV="false" rot="0">
            <a:off x="871540" y="1343024"/>
            <a:ext cx="3152327" cy="3619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перенаправление в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6" name="Shape 146"/>
          <p:cNvSpPr txBox="false"/>
          <p:nvPr isPhoto="false"/>
        </p:nvSpPr>
        <p:spPr>
          <a:xfrm flipH="true" flipV="false" rot="0">
            <a:off x="995365" y="1752599"/>
            <a:ext cx="2590799" cy="952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47" name="Shape 147"/>
          <p:cNvSpPr txBox="false"/>
          <p:nvPr isPhoto="false"/>
        </p:nvSpPr>
        <p:spPr>
          <a:xfrm flipH="false" flipV="false" rot="0">
            <a:off x="947740" y="2247899"/>
            <a:ext cx="5038724" cy="1524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48" name="Shape 148"/>
          <p:cNvSpPr txBox="true"/>
          <p:nvPr isPhoto="false"/>
        </p:nvSpPr>
        <p:spPr>
          <a:xfrm flipH="false" flipV="false" rot="0">
            <a:off x="871540" y="1866899"/>
            <a:ext cx="44763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вводим почту и пароль, на все соглашаемся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9" name="Shape 149"/>
          <p:cNvSpPr txBox="true"/>
          <p:nvPr isPhoto="false"/>
        </p:nvSpPr>
        <p:spPr>
          <a:xfrm flipH="false" flipV="false" rot="0">
            <a:off x="1433515" y="2419349"/>
            <a:ext cx="36000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идём обратно с кодом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0" name="Shape 150"/>
          <p:cNvSpPr txBox="false"/>
          <p:nvPr isPhoto="false"/>
        </p:nvSpPr>
        <p:spPr>
          <a:xfrm flipH="true" flipV="false" rot="0">
            <a:off x="976315" y="2705099"/>
            <a:ext cx="5019674" cy="1143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51" name="Shape 151"/>
          <p:cNvSpPr txBox="false"/>
          <p:nvPr isPhoto="false"/>
        </p:nvSpPr>
        <p:spPr>
          <a:xfrm flipH="false" flipV="false" rot="0">
            <a:off x="976315" y="3076574"/>
            <a:ext cx="2552699" cy="5715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52" name="Shape 152"/>
          <p:cNvSpPr txBox="true"/>
          <p:nvPr isPhoto="false"/>
        </p:nvSpPr>
        <p:spPr>
          <a:xfrm flipH="false" flipV="false" rot="0">
            <a:off x="1547815" y="2790824"/>
            <a:ext cx="2066477" cy="4381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передаём код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3" name="Shape 153"/>
          <p:cNvSpPr txBox="false"/>
          <p:nvPr isPhoto="false"/>
        </p:nvSpPr>
        <p:spPr>
          <a:xfrm flipH="false" flipV="false" rot="0">
            <a:off x="3652840" y="3457574"/>
            <a:ext cx="2428875" cy="2095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54" name="Shape 154"/>
          <p:cNvSpPr txBox="true"/>
          <p:nvPr isPhoto="false"/>
        </p:nvSpPr>
        <p:spPr>
          <a:xfrm flipH="false" flipV="false" rot="0">
            <a:off x="3633790" y="2867024"/>
            <a:ext cx="2542727" cy="60007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объединяем наш секрет и код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5" name="Shape 155"/>
          <p:cNvSpPr txBox="false"/>
          <p:nvPr isPhoto="false"/>
        </p:nvSpPr>
        <p:spPr>
          <a:xfrm flipH="true" flipV="false" rot="0">
            <a:off x="3795715" y="4029074"/>
            <a:ext cx="2333625" cy="2000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56" name="Shape 156"/>
          <p:cNvSpPr txBox="true"/>
          <p:nvPr isPhoto="false"/>
        </p:nvSpPr>
        <p:spPr>
          <a:xfrm flipH="false" flipV="false" rot="0">
            <a:off x="3729040" y="3648074"/>
            <a:ext cx="2666552" cy="6096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получаем access_token и refresh_token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7" name="Shape 157"/>
          <p:cNvSpPr txBox="false"/>
          <p:nvPr isPhoto="false"/>
        </p:nvSpPr>
        <p:spPr>
          <a:xfrm flipH="false" flipV="false" rot="0">
            <a:off x="3652840" y="4476749"/>
            <a:ext cx="5172074" cy="190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58" name="Shape 158"/>
          <p:cNvSpPr txBox="true"/>
          <p:nvPr isPhoto="false"/>
        </p:nvSpPr>
        <p:spPr>
          <a:xfrm flipH="false" flipV="false" rot="0">
            <a:off x="4586290" y="4143374"/>
            <a:ext cx="4447726" cy="5715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 данных используя access_token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9" name="Shape 159"/>
          <p:cNvSpPr txBox="false"/>
          <p:nvPr isPhoto="false"/>
        </p:nvSpPr>
        <p:spPr>
          <a:xfrm flipH="true" flipV="true" rot="0">
            <a:off x="3709990" y="5057774"/>
            <a:ext cx="5124449" cy="95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60" name="Shape 160"/>
          <p:cNvSpPr txBox="true"/>
          <p:nvPr isPhoto="false"/>
        </p:nvSpPr>
        <p:spPr>
          <a:xfrm flipH="false" flipV="false" rot="0">
            <a:off x="4957765" y="4648199"/>
            <a:ext cx="2761802" cy="4762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наши файлы с гугл диска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1" name="Shape 161"/>
          <p:cNvSpPr txBox="true"/>
          <p:nvPr isPhoto="false"/>
        </p:nvSpPr>
        <p:spPr>
          <a:xfrm flipH="false" flipV="false" rot="0">
            <a:off x="6319840" y="3248024"/>
            <a:ext cx="2885627" cy="5524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b="true">
                <a:solidFill>
                  <a:srgbClr val="161718"/>
                </a:solidFill>
                <a:latin typeface="+mn-lt"/>
                <a:ea typeface="+mn-ea"/>
                <a:cs typeface="+mn-cs"/>
              </a:rPr>
              <a:t>второй запрос обмена нашего кода на их токены</a:t>
            </a:r>
            <a:endParaRPr b="true">
              <a:solidFill>
                <a:srgbClr val="16171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2" name="Shape 162"/>
          <p:cNvSpPr txBox="true"/>
          <p:nvPr isPhoto="false"/>
        </p:nvSpPr>
        <p:spPr>
          <a:xfrm flipH="false" flipV="false" rot="0">
            <a:off x="3595690" y="2847974"/>
            <a:ext cx="2752277" cy="142875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63" name="GroupShape 16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64" name="Shape 16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токены</a:t>
            </a:r>
          </a:p>
        </p:txBody>
      </p:sp>
      <p:sp>
        <p:nvSpPr>
          <p:cNvPr hidden="false" id="165" name="Shape 165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>
              <a:buFont typeface="Arial"/>
              <a:buChar char="•"/>
            </a:lvl1pPr>
            <a:lvl2pPr lvl="1">
              <a:buFont typeface="Courier New"/>
              <a:buChar char="o"/>
            </a:lvl2pPr>
            <a:lvl3pPr lvl="2">
              <a:buFont typeface="Wingdings"/>
              <a:buChar char="§"/>
            </a:lvl3pPr>
            <a:lvl4pPr lvl="3">
              <a:buFont typeface="Arial"/>
              <a:buChar char="•"/>
            </a:lvl4pPr>
            <a:lvl5pPr lvl="4">
              <a:buFont typeface="Courier New"/>
              <a:buChar char="o"/>
            </a:lvl5pPr>
            <a:lvl6pPr lvl="5">
              <a:buFont typeface="Wingdings"/>
              <a:buChar char="§"/>
            </a:lvl6pPr>
            <a:lvl7pPr lvl="6">
              <a:buFont typeface="Arial"/>
              <a:buChar char="•"/>
            </a:lvl7pPr>
            <a:lvl8pPr lvl="7">
              <a:buFont typeface="Courier New"/>
              <a:buChar char="o"/>
            </a:lvl8pPr>
            <a:lvl9pPr lvl="8">
              <a:buFont typeface="Wingdings"/>
              <a:buChar char="§"/>
            </a:lvl9pPr>
          </a:lstStyle>
          <a:p>
            <a:pPr indent="-314325" marL="314325">
              <a:buFont typeface="Arial"/>
              <a:buChar char="•"/>
            </a:pPr>
            <a:r>
              <a:t>access_token – краткоживущий токен, можно применять для доступа ко всем ресурсам, регулярно обновляется</a:t>
            </a:r>
          </a:p>
          <a:p>
            <a:pPr indent="0" marL="0">
              <a:buNone/>
            </a:pPr>
          </a:p>
          <a:p>
            <a:pPr indent="0" marL="0">
              <a:buNone/>
            </a:pPr>
          </a:p>
          <a:p>
            <a:pPr indent="0" marL="0">
              <a:buNone/>
            </a:pPr>
          </a:p>
          <a:p>
            <a:pPr indent="-314325" marL="314325">
              <a:buFont typeface="Arial"/>
              <a:buChar char="•"/>
            </a:pPr>
            <a:r>
              <a:t>refresh_token – долгоживущий токен, используется только для получения access_token у сервера авторизации</a:t>
            </a:r>
          </a:p>
        </p:txBody>
      </p:sp>
      <p:pic>
        <p:nvPicPr>
          <p:cNvPr hidden="false" id="167" name="Picture 167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5786440" y="1885949"/>
            <a:ext cx="2256855" cy="1152226"/>
          </a:xfrm>
          <a:prstGeom prst="rect">
            <a:avLst/>
          </a:prstGeom>
        </p:spPr>
      </p:pic>
      <p:pic>
        <p:nvPicPr>
          <p:cNvPr hidden="false" id="169" name="Picture 169"/>
          <p:cNvPicPr preferRelativeResize="true"/>
          <p:nvPr isPhoto="false"/>
        </p:nvPicPr>
        <p:blipFill>
          <a:blip r:embed="rId2"/>
        </p:blipFill>
        <p:spPr>
          <a:xfrm flipH="false" flipV="false" rot="0">
            <a:off x="5795965" y="3667124"/>
            <a:ext cx="2399584" cy="933159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70" name="GroupShape 17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1" name="Shape 171"/>
          <p:cNvSpPr txBox="true"/>
          <p:nvPr isPhoto="false">
            <p:ph idx="0" type="title"/>
          </p:nvPr>
        </p:nvSpPr>
        <p:spPr>
          <a:xfrm flipH="false" flipV="false" rot="0">
            <a:off x="623890" y="180974"/>
            <a:ext cx="7886704" cy="746557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OpenID Connect</a:t>
            </a:r>
          </a:p>
        </p:txBody>
      </p:sp>
      <p:sp>
        <p:nvSpPr>
          <p:cNvPr hidden="false" id="172" name="Shape 172"/>
          <p:cNvSpPr txBox="true"/>
          <p:nvPr isPhoto="false">
            <p:ph idx="1" type="body"/>
          </p:nvPr>
        </p:nvSpPr>
        <p:spPr>
          <a:xfrm flipH="false" flipV="false" rot="0">
            <a:off x="628650" y="1054942"/>
            <a:ext cx="7886704" cy="3577944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r>
              <a:t>Аутентификация – кто ты?</a:t>
            </a:r>
          </a:p>
          <a:p>
            <a:pPr indent="0" marL="0">
              <a:buNone/>
            </a:pPr>
          </a:p>
          <a:p>
            <a:r>
              <a:t>Авторизация – что можешь?</a:t>
            </a:r>
          </a:p>
          <a:p>
            <a:pPr indent="0" marL="0">
              <a:buNone/>
            </a:pPr>
          </a:p>
          <a:p>
            <a:pPr indent="0" marL="0">
              <a:buNone/>
            </a:pPr>
            <a:r>
              <a:t>OpenID Connect – надстройка над OAuth 2.0 добавляющая аутентификацию, добавляет id token содержащий данные о пользователе</a:t>
            </a:r>
          </a:p>
        </p:txBody>
      </p:sp>
      <p:pic>
        <p:nvPicPr>
          <p:cNvPr hidden="false" id="174" name="Picture 174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671515" y="3448049"/>
            <a:ext cx="2161581" cy="1266471"/>
          </a:xfrm>
          <a:prstGeom prst="rect">
            <a:avLst/>
          </a:prstGeom>
        </p:spPr>
      </p:pic>
    </p:spTree>
  </p:cSld>
</p:sld>
</file>

<file path=ppt/slides/slide1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75" name="GroupShape 17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6" name="Shape 176"/>
          <p:cNvSpPr txBox="true"/>
          <p:nvPr isPhoto="false"/>
        </p:nvSpPr>
        <p:spPr>
          <a:xfrm flipH="false" flipV="false" rot="0">
            <a:off x="338140" y="152400"/>
            <a:ext cx="1275902" cy="628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Илон маск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владелец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7" name="Shape 177"/>
          <p:cNvSpPr txBox="true"/>
          <p:nvPr isPhoto="false"/>
        </p:nvSpPr>
        <p:spPr>
          <a:xfrm flipH="false" flipV="false" rot="0">
            <a:off x="1928815" y="142874"/>
            <a:ext cx="1723577" cy="5048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 клиент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8" name="Shape 178"/>
          <p:cNvSpPr txBox="true"/>
          <p:nvPr isPhoto="false"/>
        </p:nvSpPr>
        <p:spPr>
          <a:xfrm flipH="false" flipV="false" rot="0">
            <a:off x="3843340" y="123824"/>
            <a:ext cx="2409377" cy="6477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9" name="Shape 179"/>
          <p:cNvSpPr txBox="true"/>
          <p:nvPr isPhoto="false"/>
        </p:nvSpPr>
        <p:spPr>
          <a:xfrm flipH="false" flipV="false" rot="0">
            <a:off x="6319840" y="152399"/>
            <a:ext cx="2695127" cy="7239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 диск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(ресурсный сервер)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0" name="Shape 180"/>
          <p:cNvSpPr txBox="false"/>
          <p:nvPr isPhoto="false"/>
        </p:nvSpPr>
        <p:spPr>
          <a:xfrm flipH="false" flipV="false" rot="0">
            <a:off x="890590" y="790574"/>
            <a:ext cx="0" cy="46196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81" name="Shape 181"/>
          <p:cNvSpPr txBox="false"/>
          <p:nvPr isPhoto="false"/>
        </p:nvSpPr>
        <p:spPr>
          <a:xfrm flipH="false" flipV="false" rot="0">
            <a:off x="3633790" y="619124"/>
            <a:ext cx="0" cy="50387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82" name="Shape 182"/>
          <p:cNvSpPr txBox="false"/>
          <p:nvPr isPhoto="false"/>
        </p:nvSpPr>
        <p:spPr>
          <a:xfrm flipH="false" flipV="false" rot="0">
            <a:off x="6215065" y="761999"/>
            <a:ext cx="0" cy="467677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83" name="Shape 183"/>
          <p:cNvSpPr txBox="false"/>
          <p:nvPr isPhoto="false"/>
        </p:nvSpPr>
        <p:spPr>
          <a:xfrm flipH="false" flipV="false" rot="0">
            <a:off x="8882065" y="866774"/>
            <a:ext cx="0" cy="54959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84" name="Shape 184"/>
          <p:cNvSpPr txBox="false"/>
          <p:nvPr isPhoto="false"/>
        </p:nvSpPr>
        <p:spPr>
          <a:xfrm flipH="false" flipV="false" rot="0">
            <a:off x="900115" y="1171574"/>
            <a:ext cx="2705099" cy="66674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85" name="Shape 185"/>
          <p:cNvSpPr txBox="true"/>
          <p:nvPr isPhoto="false"/>
        </p:nvSpPr>
        <p:spPr>
          <a:xfrm flipH="false" flipV="false" rot="0">
            <a:off x="833440" y="790574"/>
            <a:ext cx="2980877" cy="3810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хочу загрузить файлы из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6" name="Shape 186"/>
          <p:cNvSpPr txBox="true"/>
          <p:nvPr isPhoto="false"/>
        </p:nvSpPr>
        <p:spPr>
          <a:xfrm flipH="false" flipV="false" rot="0">
            <a:off x="871540" y="1343024"/>
            <a:ext cx="3152327" cy="3619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перенаправление в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7" name="Shape 187"/>
          <p:cNvSpPr txBox="false"/>
          <p:nvPr isPhoto="false"/>
        </p:nvSpPr>
        <p:spPr>
          <a:xfrm flipH="true" flipV="false" rot="0">
            <a:off x="995365" y="1752599"/>
            <a:ext cx="2590799" cy="952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88" name="Shape 188"/>
          <p:cNvSpPr txBox="false"/>
          <p:nvPr isPhoto="false"/>
        </p:nvSpPr>
        <p:spPr>
          <a:xfrm flipH="false" flipV="false" rot="0">
            <a:off x="947740" y="2247899"/>
            <a:ext cx="5038724" cy="1524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89" name="Shape 189"/>
          <p:cNvSpPr txBox="true"/>
          <p:nvPr isPhoto="false"/>
        </p:nvSpPr>
        <p:spPr>
          <a:xfrm flipH="false" flipV="false" rot="0">
            <a:off x="871540" y="1866899"/>
            <a:ext cx="44763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вводим почту и пароль, на все соглашаемся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0" name="Shape 190"/>
          <p:cNvSpPr txBox="true"/>
          <p:nvPr isPhoto="false"/>
        </p:nvSpPr>
        <p:spPr>
          <a:xfrm flipH="false" flipV="false" rot="0">
            <a:off x="1433515" y="2419349"/>
            <a:ext cx="36000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идём обратно с кодом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1" name="Shape 191"/>
          <p:cNvSpPr txBox="false"/>
          <p:nvPr isPhoto="false"/>
        </p:nvSpPr>
        <p:spPr>
          <a:xfrm flipH="true" flipV="false" rot="0">
            <a:off x="976315" y="2705099"/>
            <a:ext cx="5019674" cy="1143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92" name="Shape 192"/>
          <p:cNvSpPr txBox="false"/>
          <p:nvPr isPhoto="false"/>
        </p:nvSpPr>
        <p:spPr>
          <a:xfrm flipH="false" flipV="false" rot="0">
            <a:off x="976315" y="3076574"/>
            <a:ext cx="2552699" cy="5715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93" name="Shape 193"/>
          <p:cNvSpPr txBox="true"/>
          <p:nvPr isPhoto="false"/>
        </p:nvSpPr>
        <p:spPr>
          <a:xfrm flipH="false" flipV="false" rot="0">
            <a:off x="1547815" y="2790824"/>
            <a:ext cx="2066477" cy="4381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передаём код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4" name="Shape 194"/>
          <p:cNvSpPr txBox="false"/>
          <p:nvPr isPhoto="false"/>
        </p:nvSpPr>
        <p:spPr>
          <a:xfrm flipH="false" flipV="false" rot="0">
            <a:off x="3652840" y="3457574"/>
            <a:ext cx="2428875" cy="2095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95" name="Shape 195"/>
          <p:cNvSpPr txBox="true"/>
          <p:nvPr isPhoto="false"/>
        </p:nvSpPr>
        <p:spPr>
          <a:xfrm flipH="false" flipV="false" rot="0">
            <a:off x="3633790" y="2867024"/>
            <a:ext cx="2542727" cy="60007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объединяем наш секрет и код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6" name="Shape 196"/>
          <p:cNvSpPr txBox="false"/>
          <p:nvPr isPhoto="false"/>
        </p:nvSpPr>
        <p:spPr>
          <a:xfrm flipH="true" flipV="false" rot="0">
            <a:off x="3795715" y="4029074"/>
            <a:ext cx="2333625" cy="2000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97" name="Shape 197"/>
          <p:cNvSpPr txBox="true"/>
          <p:nvPr isPhoto="false"/>
        </p:nvSpPr>
        <p:spPr>
          <a:xfrm flipH="false" flipV="false" rot="0">
            <a:off x="3729040" y="3648074"/>
            <a:ext cx="2666552" cy="6096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получаем access_token и refresh_token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8" name="Shape 198"/>
          <p:cNvSpPr txBox="false"/>
          <p:nvPr isPhoto="false"/>
        </p:nvSpPr>
        <p:spPr>
          <a:xfrm flipH="false" flipV="false" rot="0">
            <a:off x="3652840" y="4476749"/>
            <a:ext cx="5172074" cy="190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199" name="Shape 199"/>
          <p:cNvSpPr txBox="true"/>
          <p:nvPr isPhoto="false"/>
        </p:nvSpPr>
        <p:spPr>
          <a:xfrm flipH="false" flipV="false" rot="0">
            <a:off x="4586290" y="4143374"/>
            <a:ext cx="4447726" cy="5715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 данных используя access_token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0" name="Shape 200"/>
          <p:cNvSpPr txBox="false"/>
          <p:nvPr isPhoto="false"/>
        </p:nvSpPr>
        <p:spPr>
          <a:xfrm flipH="true" flipV="true" rot="0">
            <a:off x="3709990" y="5057774"/>
            <a:ext cx="5124449" cy="95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01" name="Shape 201"/>
          <p:cNvSpPr txBox="true"/>
          <p:nvPr isPhoto="false"/>
        </p:nvSpPr>
        <p:spPr>
          <a:xfrm flipH="false" flipV="false" rot="0">
            <a:off x="4957765" y="4648199"/>
            <a:ext cx="2761802" cy="4762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наши файлы с гугл диска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2" name="Shape 202"/>
          <p:cNvSpPr txBox="true"/>
          <p:nvPr isPhoto="false"/>
        </p:nvSpPr>
        <p:spPr>
          <a:xfrm flipH="false" flipV="false" rot="0">
            <a:off x="3595690" y="2847974"/>
            <a:ext cx="2752277" cy="142875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3" name="Shape 203"/>
          <p:cNvSpPr txBox="true"/>
          <p:nvPr isPhoto="false"/>
        </p:nvSpPr>
        <p:spPr>
          <a:xfrm flipH="false" flipV="false" rot="0">
            <a:off x="4967290" y="3829049"/>
            <a:ext cx="1037777" cy="3238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b="true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id_token</a:t>
            </a:r>
            <a:endParaRPr b="true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04" name="GroupShape 20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5" name="Shape 20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r>
              <a:t>3.Получение данных профиля</a:t>
            </a:r>
          </a:p>
        </p:txBody>
      </p:sp>
      <p:sp>
        <p:nvSpPr>
          <p:cNvPr hidden="false" id="206" name="Shape 206"/>
          <p:cNvSpPr txBox="true"/>
          <p:nvPr isPhoto="false">
            <p:ph idx="1" type="body"/>
          </p:nvPr>
        </p:nvSpPr>
        <p:spPr>
          <a:xfrm flipH="false" flipV="false" rot="0">
            <a:off x="628650" y="2331292"/>
            <a:ext cx="7886704" cy="2301595"/>
          </a:xfrm>
          <a:prstGeom prst="rect">
            <a:avLst/>
          </a:prstGeom>
        </p:spPr>
      </p:sp>
      <p:pic>
        <p:nvPicPr>
          <p:cNvPr hidden="false" id="208" name="Picture 208"/>
          <p:cNvPicPr preferRelativeResize="true"/>
          <p:nvPr isPhoto="false"/>
        </p:nvPicPr>
        <p:blipFill>
          <a:blip r:embed="rId1"/>
        </p:blipFill>
        <p:spPr>
          <a:xfrm flipH="false" flipV="false" rot="0">
            <a:off x="-33334" y="1438274"/>
            <a:ext cx="9144005" cy="871760"/>
          </a:xfrm>
          <a:prstGeom prst="rect">
            <a:avLst/>
          </a:prstGeom>
        </p:spPr>
      </p:pic>
    </p:spTree>
  </p:cSld>
</p:sld>
</file>

<file path=ppt/slides/slide1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09" name="GroupShape 20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10" name="Shape 210"/>
          <p:cNvSpPr txBox="true"/>
          <p:nvPr isPhoto="false"/>
        </p:nvSpPr>
        <p:spPr>
          <a:xfrm flipH="false" flipV="false" rot="0">
            <a:off x="338140" y="152400"/>
            <a:ext cx="1275902" cy="628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Илон маск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владелец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1" name="Shape 211"/>
          <p:cNvSpPr txBox="true"/>
          <p:nvPr isPhoto="false"/>
        </p:nvSpPr>
        <p:spPr>
          <a:xfrm flipH="false" flipV="false" rot="0">
            <a:off x="1928815" y="142874"/>
            <a:ext cx="1723577" cy="5048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 клиент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2" name="Shape 212"/>
          <p:cNvSpPr txBox="true"/>
          <p:nvPr isPhoto="false"/>
        </p:nvSpPr>
        <p:spPr>
          <a:xfrm flipH="false" flipV="false" rot="0">
            <a:off x="3843340" y="123824"/>
            <a:ext cx="2409377" cy="6477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сервер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3" name="Shape 213"/>
          <p:cNvSpPr txBox="true"/>
          <p:nvPr isPhoto="false"/>
        </p:nvSpPr>
        <p:spPr>
          <a:xfrm flipH="false" flipV="false" rot="0">
            <a:off x="6319840" y="152399"/>
            <a:ext cx="2695127" cy="7239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гугл диск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(ресурсный сервер)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4" name="Shape 214"/>
          <p:cNvSpPr txBox="false"/>
          <p:nvPr isPhoto="false"/>
        </p:nvSpPr>
        <p:spPr>
          <a:xfrm flipH="false" flipV="false" rot="0">
            <a:off x="890590" y="790574"/>
            <a:ext cx="0" cy="46196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15" name="Shape 215"/>
          <p:cNvSpPr txBox="false"/>
          <p:nvPr isPhoto="false"/>
        </p:nvSpPr>
        <p:spPr>
          <a:xfrm flipH="false" flipV="false" rot="0">
            <a:off x="3633790" y="619124"/>
            <a:ext cx="0" cy="50387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16" name="Shape 216"/>
          <p:cNvSpPr txBox="false"/>
          <p:nvPr isPhoto="false"/>
        </p:nvSpPr>
        <p:spPr>
          <a:xfrm flipH="false" flipV="false" rot="0">
            <a:off x="6215065" y="761999"/>
            <a:ext cx="0" cy="467677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17" name="Shape 217"/>
          <p:cNvSpPr txBox="false"/>
          <p:nvPr isPhoto="false"/>
        </p:nvSpPr>
        <p:spPr>
          <a:xfrm flipH="false" flipV="false" rot="0">
            <a:off x="8882065" y="866774"/>
            <a:ext cx="0" cy="5495924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type="none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18" name="Shape 218"/>
          <p:cNvSpPr txBox="false"/>
          <p:nvPr isPhoto="false"/>
        </p:nvSpPr>
        <p:spPr>
          <a:xfrm flipH="false" flipV="false" rot="0">
            <a:off x="900115" y="1171574"/>
            <a:ext cx="2705099" cy="66674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19" name="Shape 219"/>
          <p:cNvSpPr txBox="true"/>
          <p:nvPr isPhoto="false"/>
        </p:nvSpPr>
        <p:spPr>
          <a:xfrm flipH="false" flipV="false" rot="0">
            <a:off x="833440" y="790574"/>
            <a:ext cx="2980877" cy="3810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ctr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хочу загрузить файлы из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0" name="Shape 220"/>
          <p:cNvSpPr txBox="true"/>
          <p:nvPr isPhoto="false"/>
        </p:nvSpPr>
        <p:spPr>
          <a:xfrm flipH="false" flipV="false" rot="0">
            <a:off x="871540" y="1343024"/>
            <a:ext cx="3152327" cy="3619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перенаправление в гугл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1" name="Shape 221"/>
          <p:cNvSpPr txBox="false"/>
          <p:nvPr isPhoto="false"/>
        </p:nvSpPr>
        <p:spPr>
          <a:xfrm flipH="true" flipV="false" rot="0">
            <a:off x="995365" y="1752599"/>
            <a:ext cx="2590799" cy="952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22" name="Shape 222"/>
          <p:cNvSpPr txBox="false"/>
          <p:nvPr isPhoto="false"/>
        </p:nvSpPr>
        <p:spPr>
          <a:xfrm flipH="false" flipV="false" rot="0">
            <a:off x="947740" y="2247899"/>
            <a:ext cx="5038724" cy="1524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23" name="Shape 223"/>
          <p:cNvSpPr txBox="true"/>
          <p:nvPr isPhoto="false"/>
        </p:nvSpPr>
        <p:spPr>
          <a:xfrm flipH="false" flipV="false" rot="0">
            <a:off x="871540" y="1866899"/>
            <a:ext cx="44763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вводим почту и пароль, на все соглашаемся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4" name="Shape 224"/>
          <p:cNvSpPr txBox="true"/>
          <p:nvPr isPhoto="false"/>
        </p:nvSpPr>
        <p:spPr>
          <a:xfrm flipH="false" flipV="false" rot="0">
            <a:off x="1433515" y="2419349"/>
            <a:ext cx="3600002" cy="42862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идём обратно с кодом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5" name="Shape 225"/>
          <p:cNvSpPr txBox="false"/>
          <p:nvPr isPhoto="false"/>
        </p:nvSpPr>
        <p:spPr>
          <a:xfrm flipH="true" flipV="false" rot="0">
            <a:off x="976315" y="2705099"/>
            <a:ext cx="5019674" cy="11430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26" name="Shape 226"/>
          <p:cNvSpPr txBox="false"/>
          <p:nvPr isPhoto="false"/>
        </p:nvSpPr>
        <p:spPr>
          <a:xfrm flipH="false" flipV="false" rot="0">
            <a:off x="976315" y="3076574"/>
            <a:ext cx="2552699" cy="57150"/>
          </a:xfrm>
          <a:prstGeom prst="line">
            <a:avLst/>
          </a:prstGeom>
          <a:noFill/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 anchor="t" bIns="45720" lIns="45720" rIns="45720" tIns="45720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27" name="Shape 227"/>
          <p:cNvSpPr txBox="true"/>
          <p:nvPr isPhoto="false"/>
        </p:nvSpPr>
        <p:spPr>
          <a:xfrm flipH="false" flipV="false" rot="0">
            <a:off x="1547815" y="2790824"/>
            <a:ext cx="2066477" cy="4381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передаём код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8" name="Shape 228"/>
          <p:cNvSpPr txBox="false"/>
          <p:nvPr isPhoto="false"/>
        </p:nvSpPr>
        <p:spPr>
          <a:xfrm flipH="false" flipV="false" rot="0">
            <a:off x="3652840" y="3457574"/>
            <a:ext cx="2428875" cy="2095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29" name="Shape 229"/>
          <p:cNvSpPr txBox="true"/>
          <p:nvPr isPhoto="false"/>
        </p:nvSpPr>
        <p:spPr>
          <a:xfrm flipH="false" flipV="false" rot="0">
            <a:off x="3633790" y="2867024"/>
            <a:ext cx="2542727" cy="600075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объединяем наш секрет и код авторизации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0" name="Shape 230"/>
          <p:cNvSpPr txBox="false"/>
          <p:nvPr isPhoto="false"/>
        </p:nvSpPr>
        <p:spPr>
          <a:xfrm flipH="true" flipV="false" rot="0">
            <a:off x="3795715" y="4029074"/>
            <a:ext cx="2333625" cy="2000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31" name="Shape 231"/>
          <p:cNvSpPr txBox="true"/>
          <p:nvPr isPhoto="false"/>
        </p:nvSpPr>
        <p:spPr>
          <a:xfrm flipH="false" flipV="false" rot="0">
            <a:off x="3729040" y="3648074"/>
            <a:ext cx="2666552" cy="6096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 sz="14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получаем access_token и refresh_token</a:t>
            </a:r>
            <a:endParaRPr sz="14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2" name="Shape 232"/>
          <p:cNvSpPr txBox="false"/>
          <p:nvPr isPhoto="false"/>
        </p:nvSpPr>
        <p:spPr>
          <a:xfrm flipH="false" flipV="false" rot="0">
            <a:off x="3652840" y="4476749"/>
            <a:ext cx="5172074" cy="19050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33" name="Shape 233"/>
          <p:cNvSpPr txBox="true"/>
          <p:nvPr isPhoto="false"/>
        </p:nvSpPr>
        <p:spPr>
          <a:xfrm flipH="false" flipV="false" rot="0">
            <a:off x="4586290" y="4143374"/>
            <a:ext cx="4447726" cy="57150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запрос данных используя access_token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4" name="Shape 234"/>
          <p:cNvSpPr txBox="false"/>
          <p:nvPr isPhoto="false"/>
        </p:nvSpPr>
        <p:spPr>
          <a:xfrm flipH="true" flipV="true" rot="0">
            <a:off x="3709990" y="5057774"/>
            <a:ext cx="5124449" cy="9525"/>
          </a:xfrm>
          <a:prstGeom prst="line">
            <a:avLst/>
          </a:prstGeom>
          <a:ln w="12700">
            <a:solidFill>
              <a:srgbClr val="AE3030"/>
            </a:solidFill>
            <a:prstDash val="solid"/>
            <a:headEnd type="none"/>
            <a:tailEnd len="med" type="arrow" w="med"/>
          </a:ln>
        </p:spPr>
        <p:txBody>
          <a:bodyPr/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>
              <a:buNone/>
            </a:pPr>
            <a:endParaRPr/>
          </a:p>
        </p:txBody>
      </p:sp>
      <p:sp>
        <p:nvSpPr>
          <p:cNvPr hidden="false" id="235" name="Shape 235"/>
          <p:cNvSpPr txBox="true"/>
          <p:nvPr isPhoto="false"/>
        </p:nvSpPr>
        <p:spPr>
          <a:xfrm flipH="false" flipV="false" rot="0">
            <a:off x="4957765" y="4648199"/>
            <a:ext cx="2761802" cy="476250"/>
          </a:xfrm>
          <a:prstGeom prst="rect">
            <a:avLst/>
          </a:prstGeom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r>
              <a:rPr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наши файлы с гугл диска</a:t>
            </a: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6" name="Shape 236"/>
          <p:cNvSpPr txBox="true"/>
          <p:nvPr isPhoto="false"/>
        </p:nvSpPr>
        <p:spPr>
          <a:xfrm flipH="false" flipV="false" rot="0">
            <a:off x="3595690" y="4095749"/>
            <a:ext cx="5304977" cy="962025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anchor="t" bIns="46800" lIns="90000" rIns="90000" tIns="46800" vert="horz" wrap="square">
            <a:noAutofit/>
          </a:bodyPr>
          <a:lstStyle>
            <a:defPPr/>
            <a:lvl1pPr indent="0" lvl="0" marL="0"/>
            <a:lvl2pPr indent="0" lvl="1" marL="457200"/>
            <a:lvl3pPr indent="0" lvl="2" marL="914400"/>
            <a:lvl4pPr indent="0" lvl="3" marL="1371600"/>
            <a:lvl5pPr indent="0" lvl="4" marL="1828800"/>
            <a:lvl6pPr indent="0" lvl="5" marL="2286000"/>
            <a:lvl7pPr indent="0" lvl="6" marL="2743200"/>
            <a:lvl8pPr indent="0" lvl="7" marL="3200400"/>
            <a:lvl9pPr indent="0" lvl="8" marL="3657600"/>
          </a:lstStyle>
          <a:p>
            <a:pPr algn="l">
              <a:buNone/>
            </a:pPr>
            <a:endParaRPr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1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37" name="GroupShape 23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38" name="Shape 23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/>
            <a:r>
              <a:t>практика</a:t>
            </a:r>
          </a:p>
        </p:txBody>
      </p:sp>
      <p:sp>
        <p:nvSpPr>
          <p:cNvPr hidden="false" id="239" name="Shape 239"/>
          <p:cNvSpPr txBox="true"/>
          <p:nvPr isPhoto="false">
            <p:ph idx="1" type="body"/>
          </p:nvPr>
        </p:nvSpPr>
        <p:spPr>
          <a:xfrm flipH="false" flipV="false" rot="0">
            <a:off x="614365" y="1247774"/>
            <a:ext cx="7886704" cy="3673194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lvl="0">
              <a:buFont typeface="Arial"/>
              <a:buChar char="•"/>
            </a:lvl1pPr>
            <a:lvl2pPr lvl="1">
              <a:buFont typeface="Courier New"/>
              <a:buChar char="o"/>
            </a:lvl2pPr>
            <a:lvl3pPr lvl="2">
              <a:buFont typeface="Wingdings"/>
              <a:buChar char="§"/>
            </a:lvl3pPr>
            <a:lvl4pPr lvl="3">
              <a:buFont typeface="Arial"/>
              <a:buChar char="•"/>
            </a:lvl4pPr>
            <a:lvl5pPr lvl="4">
              <a:buFont typeface="Courier New"/>
              <a:buChar char="o"/>
            </a:lvl5pPr>
            <a:lvl6pPr lvl="5">
              <a:buFont typeface="Wingdings"/>
              <a:buChar char="§"/>
            </a:lvl6pPr>
            <a:lvl7pPr lvl="6">
              <a:buFont typeface="Arial"/>
              <a:buChar char="•"/>
            </a:lvl7pPr>
            <a:lvl8pPr lvl="7">
              <a:buFont typeface="Courier New"/>
              <a:buChar char="o"/>
            </a:lvl8pPr>
            <a:lvl9pPr lvl="8">
              <a:buFont typeface="Wingdings"/>
              <a:buChar char="§"/>
            </a:lvl9pPr>
          </a:lstStyle>
          <a:p>
            <a:r>
              <a:rPr u="sng">
                <a:solidFill>
                  <a:srgbClr val="0000FF"/>
                </a:solidFill>
                <a:hlinkClick r:id="rId1"/>
              </a:rPr>
              <a:t>https://console.cloud.google.com/</a:t>
            </a:r>
            <a:r>
              <a:t> заходим, регаем клиент, сохраняем себе id и secret, вставляем  </a:t>
            </a:r>
            <a:r>
              <a:rPr b="false">
                <a:solidFill>
                  <a:srgbClr val="E394DC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http://localhost:8080</a:t>
            </a:r>
            <a:r>
              <a:t>  и </a:t>
            </a:r>
            <a:r>
              <a:rPr b="false">
                <a:solidFill>
                  <a:srgbClr val="E394DC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http://localhost:8080/callback</a:t>
            </a:r>
            <a:endParaRPr b="false">
              <a:solidFill>
                <a:srgbClr val="E394DC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r>
              <a:t>Нужно изменить функцию login, которая формирует запрос</a:t>
            </a:r>
            <a:endParaRPr b="false">
              <a:solidFill>
                <a:srgbClr val="E394DC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0">
              <a:buNone/>
            </a:pPr>
            <a:r>
              <a:t>на </a:t>
            </a:r>
            <a:r>
              <a:t>https://accounts.google.com/o/oauth2/v2/auth</a:t>
            </a:r>
          </a:p>
          <a:p>
            <a:pPr indent="0" marL="0">
              <a:buNone/>
            </a:pPr>
            <a:r>
              <a:t>с параметрами</a:t>
            </a:r>
          </a:p>
          <a:p>
            <a:pPr indent="0" marL="0">
              <a:buNone/>
            </a:pPr>
            <a:r>
              <a:t> scope=</a:t>
            </a:r>
            <a:r>
              <a:t>https://www.googleapis.com/auth/drive.readonly </a:t>
            </a:r>
            <a:endParaRPr b="false">
              <a:solidFill>
                <a:srgbClr val="E394DC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0" marL="0">
              <a:buNone/>
            </a:pPr>
            <a:r>
              <a:t>вашими client_id и client_secret</a:t>
            </a:r>
          </a:p>
          <a:p>
            <a:pPr indent="0" marL="0">
              <a:buNone/>
            </a:pPr>
            <a:r>
              <a:t>и state=</a:t>
            </a:r>
            <a:r>
              <a:rPr b="false">
                <a:solidFill>
                  <a:srgbClr val="CCCCCC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secrets</a:t>
            </a:r>
            <a:r>
              <a:rPr b="false">
                <a:solidFill>
                  <a:srgbClr val="D6D6DD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.</a:t>
            </a:r>
            <a:r>
              <a:rPr b="false">
                <a:solidFill>
                  <a:srgbClr val="EBC88D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token_urlsafe</a:t>
            </a:r>
            <a:r>
              <a:rPr b="false">
                <a:solidFill>
                  <a:srgbClr val="D6D6DD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(</a:t>
            </a:r>
            <a:r>
              <a:rPr b="false">
                <a:solidFill>
                  <a:srgbClr val="EBC88D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16</a:t>
            </a:r>
            <a:r>
              <a:rPr b="false">
                <a:solidFill>
                  <a:srgbClr val="D6D6DD"/>
                </a:solidFill>
                <a:highlight>
                  <a:srgbClr val="181818"/>
                </a:highlight>
                <a:latin typeface="Consolas"/>
                <a:ea typeface="Consolas"/>
                <a:cs typeface="Consolas"/>
              </a:rPr>
              <a:t>)</a:t>
            </a:r>
            <a:endParaRPr b="false">
              <a:solidFill>
                <a:srgbClr val="CCCCCC"/>
              </a:solidFill>
              <a:highlight>
                <a:srgbClr val="181818"/>
              </a:highlight>
              <a:latin typeface="Consolas"/>
              <a:ea typeface="Consolas"/>
              <a:cs typeface="Consolas"/>
            </a:endParaRPr>
          </a:p>
          <a:p>
            <a:pPr indent="-314325" marL="314325">
              <a:buFont typeface="Arial"/>
              <a:buChar char="•"/>
            </a:pPr>
            <a:r>
              <a:t>можно проверить работоспособность, скачав without_login.py и main.html в одну папку</a:t>
            </a: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Basic">
  <a:themeElements>
    <a:clrScheme name="Office">
      <a:dk1>
        <a:srgbClr val="000000"/>
      </a:dk1>
      <a:lt1>
        <a:srgbClr val="FFFFFF"/>
      </a:lt1>
      <a:dk2>
        <a:srgbClr val="3D5166"/>
      </a:dk2>
      <a:lt2>
        <a:srgbClr val="E5E6E7"/>
      </a:lt2>
      <a:accent1>
        <a:srgbClr val="D15757"/>
      </a:accent1>
      <a:accent2>
        <a:srgbClr val="E8B448"/>
      </a:accent2>
      <a:accent3>
        <a:srgbClr val="91C25F"/>
      </a:accent3>
      <a:accent4>
        <a:srgbClr val="3EB07E"/>
      </a:accent4>
      <a:accent5>
        <a:srgbClr val="36A6D6"/>
      </a:accent5>
      <a:accent6>
        <a:srgbClr val="367FCB"/>
      </a:accent6>
      <a:hlink>
        <a:srgbClr val="367FCB"/>
      </a:hlink>
      <a:folHlink>
        <a:srgbClr val="965E99"/>
      </a:folHlink>
    </a:clrScheme>
    <a:fontScheme name="Office">
      <a:majorFont>
        <a:latin typeface="XO Oriel"/>
        <a:ea typeface=""/>
        <a:cs typeface=""/>
      </a:majorFont>
      <a:minorFont>
        <a:latin typeface="XO Orie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MyOffice-CoreFramework-Windows/36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2026-01-01T15:32:45Z</dcterms:created>
  <dcterms:modified xsi:type="dcterms:W3CDTF">2026-01-01T15:32:45Z</dcterms:modified>
</cp:coreProperties>
</file>