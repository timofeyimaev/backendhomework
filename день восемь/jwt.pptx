
<file path=[Content_Types].xml><?xml version="1.0" encoding="utf-8"?>
<Types xmlns="http://schemas.openxmlformats.org/package/2006/content-types"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5" cy="5143683"/>
  <p:notesSz cx="5143683" cy="9144005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17" Target="slides/slide15.xml" Type="http://schemas.openxmlformats.org/officeDocument/2006/relationships/slide"/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18" Target="slides/slide16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19" Target="slides/slide17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slides/slide14.xml" Type="http://schemas.openxmlformats.org/officeDocument/2006/relationships/slide"/>
  <Relationship Id="rId20" Target="slides/slide18.xml" Type="http://schemas.openxmlformats.org/officeDocument/2006/relationships/slide"/>
  <Relationship Id="rId2" Target="slideMasters/slideMaster1.xml" Type="http://schemas.openxmlformats.org/officeDocument/2006/relationships/slideMaster"/>
  <Relationship Id="rId21" Target="tableStyles.xml" Type="http://schemas.openxmlformats.org/officeDocument/2006/relationships/tableStyles"/>
  <Relationship Id="rId9" Target="slides/slide7.xml" Type="http://schemas.openxmlformats.org/officeDocument/2006/relationships/slide"/>
  <Relationship Id="rId15" Target="slides/slide13.xml" Type="http://schemas.openxmlformats.org/officeDocument/2006/relationships/slide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5" name="GroupShape 1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" name="Shape 16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6" name="Shape 6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8" name="GroupShape 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" name="Shape 9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10" name="Shape 10"/>
          <p:cNvSpPr txBox="true"/>
          <p:nvPr isPhoto="false">
            <p:ph idx="2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11" name="GroupShape 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" name="Shape 1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3" name="Shape 1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4" name="Shape 14"/>
          <p:cNvSpPr txBox="true"/>
          <p:nvPr isPhoto="false">
            <p:ph idx="3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6"/>
          </a:xfrm>
          <a:prstGeom prst="rect">
            <a:avLst/>
          </a:prstGeom>
          <a:noFill/>
          <a:ln>
            <a:noFill/>
            <a:headEnd len="med" type="none" w="med"/>
            <a:tailEnd len="med" type="none" w="med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len="med" type="none" w="med"/>
            <a:tailEnd len="med" type="none" w="med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2.png" Type="http://schemas.openxmlformats.org/officeDocument/2006/relationships/image"/>
  <Relationship Id="rId2" Target="../media/3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4.png" Type="http://schemas.openxmlformats.org/officeDocument/2006/relationships/image"/>
  <Relationship Id="rId2" Target="../media/5.png" Type="http://schemas.openxmlformats.org/officeDocument/2006/relationships/image"/>
  <Relationship Id="rId3" Target="../media/6.png" Type="http://schemas.openxmlformats.org/officeDocument/2006/relationships/image"/>
  <Relationship Id="rId4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media/7.png" Type="http://schemas.openxmlformats.org/officeDocument/2006/relationships/image"/>
  <Relationship Id="rId2" Target="../media/8.png" Type="http://schemas.openxmlformats.org/officeDocument/2006/relationships/image"/>
  <Relationship Id="rId3" Target="../media/9.png" Type="http://schemas.openxmlformats.org/officeDocument/2006/relationships/image"/>
  <Relationship Id="rId4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10.png" Type="http://schemas.openxmlformats.org/officeDocument/2006/relationships/image"/>
  <Relationship Id="rId2" Target="../media/11.png" Type="http://schemas.openxmlformats.org/officeDocument/2006/relationships/image"/>
  <Relationship Id="rId3" Target="../media/12.png" Type="http://schemas.openxmlformats.org/officeDocument/2006/relationships/image"/>
  <Relationship Id="rId4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media/14.png" Type="http://schemas.openxmlformats.org/officeDocument/2006/relationships/image"/>
  <Relationship Id="rId2" Target="../media/15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media/16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media/16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media/17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7.xml.rels><?xml version="1.0" encoding="UTF-8" standalone="no" ?>
<Relationships xmlns="http://schemas.openxmlformats.org/package/2006/relationships">
  <Relationship Id="rId1" Target="../media/18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indent="0" marL="0">
              <a:buNone/>
            </a:pPr>
            <a:r>
              <a:t>JWT токен</a:t>
            </a:r>
          </a:p>
          <a:p>
            <a:pPr indent="0" marL="0">
              <a:buNone/>
            </a:pPr>
            <a:r>
              <a:rPr sz="2000"/>
              <a:t>json web token</a:t>
            </a:r>
            <a:endParaRPr sz="2000"/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" name="GroupShape 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" name="Shape 2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ctr" indent="0" marL="0">
              <a:buNone/>
            </a:pPr>
            <a:r>
              <a:t>мы написали lms</a:t>
            </a:r>
          </a:p>
        </p:txBody>
      </p:sp>
      <p:sp>
        <p:nvSpPr>
          <p:cNvPr hidden="false" id="23" name="Shape 2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r>
              <a:t>Проблема 1 – у нас целых 3 пользователя(больше одного)</a:t>
            </a:r>
          </a:p>
          <a:p>
            <a:r>
              <a:t>Проблема 2 – у них разные права(кто-то учитель, кто-то студент)</a:t>
            </a:r>
          </a:p>
          <a:p>
            <a:pPr indent="0" marL="0">
              <a:buNone/>
            </a:pPr>
          </a:p>
        </p:txBody>
      </p:sp>
      <p:pic>
        <p:nvPicPr>
          <p:cNvPr hidden="false" id="25" name="Picture 2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7362153" y="575440"/>
            <a:ext cx="1189364" cy="1189365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6" name="GroupShape 2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7" name="Shape 2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ctr" indent="0" marL="0">
              <a:buNone/>
            </a:pPr>
            <a:r>
              <a:t>мы написали lms</a:t>
            </a:r>
          </a:p>
        </p:txBody>
      </p:sp>
      <p:sp>
        <p:nvSpPr>
          <p:cNvPr hidden="false" id="28" name="Shape 2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r>
              <a:t>Проблема 1 – у нас целых 3 пользователя(больше одного)</a:t>
            </a:r>
          </a:p>
          <a:p>
            <a:r>
              <a:t>Проблема 2 – у них разные права(кто-то учитель, кто-то студент)</a:t>
            </a:r>
          </a:p>
          <a:p>
            <a:pPr indent="0" marL="0">
              <a:buNone/>
            </a:pPr>
            <a:r>
              <a:t>в итоге пишем регистрацию, также хотим чтобы была сессия активная храним у пользователя и на сервере sessionId</a:t>
            </a:r>
          </a:p>
        </p:txBody>
      </p:sp>
      <p:pic>
        <p:nvPicPr>
          <p:cNvPr hidden="false" id="30" name="Picture 3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7362153" y="575440"/>
            <a:ext cx="1189364" cy="1189365"/>
          </a:xfrm>
          <a:prstGeom prst="rect">
            <a:avLst/>
          </a:prstGeom>
        </p:spPr>
      </p:pic>
      <p:pic>
        <p:nvPicPr>
          <p:cNvPr hidden="false" id="32" name="Picture 32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685033" y="3038470"/>
            <a:ext cx="4085715" cy="1657144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3" name="GroupShape 3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4" name="Shape 3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ctr" indent="0" marL="0">
              <a:buNone/>
            </a:pPr>
            <a:r>
              <a:t>мы написали lms</a:t>
            </a:r>
          </a:p>
        </p:txBody>
      </p:sp>
      <p:sp>
        <p:nvSpPr>
          <p:cNvPr hidden="false" id="35" name="Shape 35"/>
          <p:cNvSpPr txBox="true"/>
          <p:nvPr isPhoto="false">
            <p:ph idx="1" type="body"/>
          </p:nvPr>
        </p:nvSpPr>
        <p:spPr>
          <a:xfrm flipH="false" flipV="false" rot="0">
            <a:off x="628650" y="1263434"/>
            <a:ext cx="7886704" cy="3369452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r>
              <a:t>Проблема 1 – у нас целых 3 пользователя(больше одного)</a:t>
            </a:r>
          </a:p>
          <a:p>
            <a:r>
              <a:t>Проблема 2 – у них разные права(кто-то учитель, кто-то студент)</a:t>
            </a:r>
          </a:p>
          <a:p>
            <a:pPr indent="0" marL="0">
              <a:buNone/>
            </a:pPr>
            <a:r>
              <a:t>в итоге пишем регистрацию, также хотим чтобы была сессия активная храним у пользователя и на сервере sessionId</a:t>
            </a:r>
          </a:p>
        </p:txBody>
      </p:sp>
      <p:pic>
        <p:nvPicPr>
          <p:cNvPr hidden="false" id="37" name="Picture 37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7362153" y="575440"/>
            <a:ext cx="1189364" cy="1189365"/>
          </a:xfrm>
          <a:prstGeom prst="rect">
            <a:avLst/>
          </a:prstGeom>
        </p:spPr>
      </p:pic>
      <p:pic>
        <p:nvPicPr>
          <p:cNvPr hidden="false" id="39" name="Picture 39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685033" y="3038470"/>
            <a:ext cx="4085715" cy="1657144"/>
          </a:xfrm>
          <a:prstGeom prst="rect">
            <a:avLst/>
          </a:prstGeom>
        </p:spPr>
      </p:pic>
      <p:pic>
        <p:nvPicPr>
          <p:cNvPr hidden="false" id="41" name="Picture 41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4918366" y="3057712"/>
            <a:ext cx="4076192" cy="1761905"/>
          </a:xfrm>
          <a:prstGeom prst="rect">
            <a:avLst/>
          </a:prstGeom>
        </p:spPr>
      </p:pic>
      <p:sp>
        <p:nvSpPr>
          <p:cNvPr hidden="false" id="42" name="Shape 42"/>
          <p:cNvSpPr txBox="true"/>
          <p:nvPr isPhoto="false"/>
        </p:nvSpPr>
        <p:spPr>
          <a:xfrm flipH="false" flipV="false" rot="0">
            <a:off x="5303215" y="2788318"/>
            <a:ext cx="3600002" cy="371377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(вот так выглядит проверка)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3" name="GroupShape 4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4" name="Shape 4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проблема</a:t>
            </a:r>
          </a:p>
        </p:txBody>
      </p:sp>
      <p:sp>
        <p:nvSpPr>
          <p:cNvPr hidden="false" id="45" name="Shape 45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У нас огромное количество серверов по всему миру и наши пользователи в разных странах</a:t>
            </a:r>
          </a:p>
          <a:p>
            <a:r>
              <a:t>Хотим чтобы сессия сохранялась при подключении к другому серверу</a:t>
            </a:r>
          </a:p>
        </p:txBody>
      </p:sp>
      <p:pic>
        <p:nvPicPr>
          <p:cNvPr hidden="false" id="47" name="Picture 47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550336" y="2913394"/>
            <a:ext cx="2330302" cy="1670425"/>
          </a:xfrm>
          <a:prstGeom prst="rect">
            <a:avLst/>
          </a:prstGeom>
        </p:spPr>
      </p:pic>
      <p:pic>
        <p:nvPicPr>
          <p:cNvPr hidden="false" id="49" name="Picture 49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5880487" y="2990364"/>
            <a:ext cx="2621249" cy="1660804"/>
          </a:xfrm>
          <a:prstGeom prst="rect">
            <a:avLst/>
          </a:prstGeom>
        </p:spPr>
      </p:pic>
      <p:sp>
        <p:nvSpPr>
          <p:cNvPr hidden="false" id="50" name="Shape 50"/>
          <p:cNvSpPr txBox="false"/>
          <p:nvPr isPhoto="false"/>
        </p:nvSpPr>
        <p:spPr>
          <a:xfrm flipH="true" flipV="false" rot="0">
            <a:off x="3109578" y="3567637"/>
            <a:ext cx="750453" cy="3848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pic>
        <p:nvPicPr>
          <p:cNvPr hidden="false" id="52" name="Picture 52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3975487" y="3221273"/>
            <a:ext cx="777556" cy="777555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53" name="GroupShape 5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4" name="Shape 5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проблема</a:t>
            </a:r>
          </a:p>
        </p:txBody>
      </p:sp>
      <p:sp>
        <p:nvSpPr>
          <p:cNvPr hidden="false" id="55" name="Shape 55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У нас огромное количество серверов по всему миру и наши пользователи в разных странах</a:t>
            </a:r>
          </a:p>
          <a:p>
            <a:r>
              <a:t>Хотим чтобы сессия сохранялась при подключении к другому серверу</a:t>
            </a:r>
          </a:p>
        </p:txBody>
      </p:sp>
      <p:pic>
        <p:nvPicPr>
          <p:cNvPr hidden="false" id="57" name="Picture 57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550336" y="2913394"/>
            <a:ext cx="2330302" cy="1670425"/>
          </a:xfrm>
          <a:prstGeom prst="rect">
            <a:avLst/>
          </a:prstGeom>
        </p:spPr>
      </p:pic>
      <p:pic>
        <p:nvPicPr>
          <p:cNvPr hidden="false" id="59" name="Picture 59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5880487" y="2990364"/>
            <a:ext cx="2621249" cy="1660804"/>
          </a:xfrm>
          <a:prstGeom prst="rect">
            <a:avLst/>
          </a:prstGeom>
        </p:spPr>
      </p:pic>
      <p:sp>
        <p:nvSpPr>
          <p:cNvPr hidden="false" id="60" name="Shape 60"/>
          <p:cNvSpPr txBox="false"/>
          <p:nvPr isPhoto="false"/>
        </p:nvSpPr>
        <p:spPr>
          <a:xfrm flipH="false" flipV="false" rot="0">
            <a:off x="4899124" y="3615742"/>
            <a:ext cx="933257" cy="9621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pic>
        <p:nvPicPr>
          <p:cNvPr hidden="false" id="62" name="Picture 62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3975487" y="3221273"/>
            <a:ext cx="777556" cy="777555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63" name="GroupShape 6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4" name="Shape 6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решение – jwt token, как он работает</a:t>
            </a:r>
          </a:p>
        </p:txBody>
      </p:sp>
      <p:sp>
        <p:nvSpPr>
          <p:cNvPr hidden="false" id="65" name="Shape 65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Json Web Token – это открытый стандарт, определяющий способо безопасной передачи информации между сторонами ввиде Json. Эта информация может быть проверена, ведь она имеет цифровую подпись. Можно подписывать с помощью secret или с помощью открытого/закрытого ключей.</a:t>
            </a: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66" name="GroupShape 6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7" name="Shape 6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решение – jwt token, как он работает</a:t>
            </a:r>
          </a:p>
        </p:txBody>
      </p:sp>
      <p:sp>
        <p:nvSpPr>
          <p:cNvPr hidden="false" id="68" name="Shape 6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Json Web Token – это открытый стандарт, определяющий способ безопасной передачи информации между сторонами ввиде Json. Эта информация может быть проверена, ведь она имеет цифровую подпись. Можно подписывать с помощью secret или с помощью открытого/закрытого ключей.</a:t>
            </a:r>
          </a:p>
        </p:txBody>
      </p:sp>
      <p:pic>
        <p:nvPicPr>
          <p:cNvPr hidden="false" id="70" name="Picture 70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694654" y="2692106"/>
            <a:ext cx="2948930" cy="2457199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1" name="GroupShape 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2" name="Shape 72"/>
          <p:cNvSpPr txBox="true"/>
          <p:nvPr isPhoto="false">
            <p:ph idx="1" type="body"/>
          </p:nvPr>
        </p:nvSpPr>
        <p:spPr>
          <a:xfrm flipH="false" flipV="false" rot="0">
            <a:off x="615464" y="125604"/>
            <a:ext cx="7886704" cy="3263619"/>
          </a:xfrm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Json Web Token – это открытый стандарт, определяющий способ безопасной передачи информации между сторонами ввиде Json. Эта информация может быть проверена, ведь она имеет цифровую подпись. Можно подписывать с помощью secret или с помощью открытого/закрытого ключей.</a:t>
            </a:r>
          </a:p>
        </p:txBody>
      </p:sp>
      <p:pic>
        <p:nvPicPr>
          <p:cNvPr hidden="false" id="74" name="Picture 74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515628" y="1549120"/>
            <a:ext cx="5262294" cy="3256082"/>
          </a:xfrm>
          <a:prstGeom prst="rect">
            <a:avLst/>
          </a:prstGeom>
        </p:spPr>
      </p:pic>
      <p:sp>
        <p:nvSpPr>
          <p:cNvPr hidden="false" id="75" name="Shape 75"/>
          <p:cNvSpPr txBox="true"/>
          <p:nvPr isPhoto="false"/>
        </p:nvSpPr>
        <p:spPr>
          <a:xfrm flipH="false" flipV="false" rot="0">
            <a:off x="6047853" y="4888104"/>
            <a:ext cx="3600001" cy="339132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(вместо секрета может быть пара ключей)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6" name="Shape 76"/>
          <p:cNvSpPr txBox="true"/>
          <p:nvPr isPhoto="false"/>
        </p:nvSpPr>
        <p:spPr>
          <a:xfrm flipH="false" flipV="false" rot="0">
            <a:off x="6037387" y="1570055"/>
            <a:ext cx="3600001" cy="600807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HS256 для симметричного шифрования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RS256 для ассиметричного 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(на самом деле мы скорей кодируем, а не шифруем)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78" name="Picture 78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7837716" y="1182774"/>
            <a:ext cx="1082475" cy="416256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9" name="GroupShape 7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0" name="Shape 8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как проверить токен</a:t>
            </a:r>
          </a:p>
        </p:txBody>
      </p:sp>
      <p:sp>
        <p:nvSpPr>
          <p:cNvPr hidden="false" id="81" name="Shape 81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83" name="Picture 83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630766" y="1266511"/>
            <a:ext cx="5895241" cy="3161906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4" name="GroupShape 8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5" name="Shape 8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как проверить токен</a:t>
            </a:r>
          </a:p>
        </p:txBody>
      </p:sp>
      <p:pic>
        <p:nvPicPr>
          <p:cNvPr hidden="false" id="87" name="Picture 87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1641233" y="1036236"/>
            <a:ext cx="5895241" cy="3161906"/>
          </a:xfrm>
          <a:prstGeom prst="rect">
            <a:avLst/>
          </a:prstGeom>
        </p:spPr>
      </p:pic>
      <p:sp>
        <p:nvSpPr>
          <p:cNvPr hidden="false" id="88" name="Shape 88"/>
          <p:cNvSpPr txBox="true"/>
          <p:nvPr isPhoto="false"/>
        </p:nvSpPr>
        <p:spPr>
          <a:xfrm flipH="false" flipV="false" rot="0">
            <a:off x="699200" y="4270549"/>
            <a:ext cx="8236898" cy="464736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теперь даже если кто-то уедет в Москву и подключиться в нашу lms с другого сервака, мы сможем проверить его сессию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9" name="GroupShape 8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0" name="Shape 90"/>
          <p:cNvSpPr txBox="true"/>
          <p:nvPr isPhoto="false"/>
        </p:nvSpPr>
        <p:spPr>
          <a:xfrm flipH="false" flipV="false" rot="0">
            <a:off x="338140" y="152400"/>
            <a:ext cx="1275902" cy="62865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Илон маск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владелец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1" name="Shape 91"/>
          <p:cNvSpPr txBox="true"/>
          <p:nvPr isPhoto="false"/>
        </p:nvSpPr>
        <p:spPr>
          <a:xfrm flipH="false" flipV="false" rot="0">
            <a:off x="1928815" y="142874"/>
            <a:ext cx="1723576" cy="504825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 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2" name="Shape 92"/>
          <p:cNvSpPr txBox="true"/>
          <p:nvPr isPhoto="false"/>
        </p:nvSpPr>
        <p:spPr>
          <a:xfrm flipH="false" flipV="false" rot="0">
            <a:off x="3843339" y="123823"/>
            <a:ext cx="2409377" cy="6477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3" name="Shape 93"/>
          <p:cNvSpPr txBox="true"/>
          <p:nvPr isPhoto="false"/>
        </p:nvSpPr>
        <p:spPr>
          <a:xfrm flipH="false" flipV="false" rot="0">
            <a:off x="6319840" y="152399"/>
            <a:ext cx="2695127" cy="7239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rgbClr val="0C0C0C"/>
                </a:solidFill>
                <a:latin typeface="+mn-lt"/>
                <a:ea typeface="+mn-ea"/>
                <a:cs typeface="+mn-cs"/>
              </a:rPr>
              <a:t>гугл диск</a:t>
            </a:r>
            <a:endParaRPr>
              <a:solidFill>
                <a:srgbClr val="0C0C0C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rgbClr val="0C0C0C"/>
                </a:solidFill>
                <a:latin typeface="+mn-lt"/>
                <a:ea typeface="+mn-ea"/>
                <a:cs typeface="+mn-cs"/>
              </a:rPr>
              <a:t>(ресурсный сервер)</a:t>
            </a:r>
            <a:endParaRPr>
              <a:solidFill>
                <a:srgbClr val="0C0C0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false"/>
          <p:nvPr isPhoto="false"/>
        </p:nvSpPr>
        <p:spPr>
          <a:xfrm flipH="false" flipV="false" rot="0">
            <a:off x="890590" y="790574"/>
            <a:ext cx="0" cy="46196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none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95" name="Shape 95"/>
          <p:cNvSpPr txBox="false"/>
          <p:nvPr isPhoto="false"/>
        </p:nvSpPr>
        <p:spPr>
          <a:xfrm flipH="false" flipV="false" rot="0">
            <a:off x="3633789" y="619124"/>
            <a:ext cx="0" cy="50387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none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96" name="Shape 96"/>
          <p:cNvSpPr txBox="false"/>
          <p:nvPr isPhoto="false"/>
        </p:nvSpPr>
        <p:spPr>
          <a:xfrm flipH="false" flipV="false" rot="0">
            <a:off x="6215065" y="761999"/>
            <a:ext cx="0" cy="467677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none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97" name="Shape 97"/>
          <p:cNvSpPr txBox="false"/>
          <p:nvPr isPhoto="false"/>
        </p:nvSpPr>
        <p:spPr>
          <a:xfrm flipH="false" flipV="false" rot="0">
            <a:off x="8882065" y="866774"/>
            <a:ext cx="0" cy="5495923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none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98" name="Shape 98"/>
          <p:cNvSpPr txBox="false"/>
          <p:nvPr isPhoto="false"/>
        </p:nvSpPr>
        <p:spPr>
          <a:xfrm flipH="false" flipV="false" rot="0">
            <a:off x="900115" y="1171574"/>
            <a:ext cx="2705099" cy="6667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99" name="Shape 99"/>
          <p:cNvSpPr txBox="true"/>
          <p:nvPr isPhoto="false"/>
        </p:nvSpPr>
        <p:spPr>
          <a:xfrm flipH="false" flipV="false" rot="0">
            <a:off x="833440" y="790574"/>
            <a:ext cx="2980876" cy="3810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хочу загрузить файлы из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0" name="Shape 100"/>
          <p:cNvSpPr txBox="true"/>
          <p:nvPr isPhoto="false"/>
        </p:nvSpPr>
        <p:spPr>
          <a:xfrm flipH="false" flipV="false" rot="0">
            <a:off x="871540" y="1343024"/>
            <a:ext cx="3152326" cy="3619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перенаправление в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1" name="Shape 101"/>
          <p:cNvSpPr txBox="false"/>
          <p:nvPr isPhoto="false"/>
        </p:nvSpPr>
        <p:spPr>
          <a:xfrm flipH="true" flipV="false" rot="0">
            <a:off x="995365" y="1752599"/>
            <a:ext cx="2590799" cy="952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02" name="Shape 102"/>
          <p:cNvSpPr txBox="false"/>
          <p:nvPr isPhoto="false"/>
        </p:nvSpPr>
        <p:spPr>
          <a:xfrm flipH="false" flipV="false" rot="0">
            <a:off x="947740" y="2247899"/>
            <a:ext cx="5038724" cy="152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03" name="Shape 103"/>
          <p:cNvSpPr txBox="true"/>
          <p:nvPr isPhoto="false"/>
        </p:nvSpPr>
        <p:spPr>
          <a:xfrm flipH="false" flipV="false" rot="0">
            <a:off x="871540" y="1866899"/>
            <a:ext cx="44763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вводим почту и пароль, на все соглашаемся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4" name="Shape 104"/>
          <p:cNvSpPr txBox="true"/>
          <p:nvPr isPhoto="false"/>
        </p:nvSpPr>
        <p:spPr>
          <a:xfrm flipH="false" flipV="false" rot="0">
            <a:off x="1433515" y="2419349"/>
            <a:ext cx="36000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идём обратно с кодом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false"/>
          <p:nvPr isPhoto="false"/>
        </p:nvSpPr>
        <p:spPr>
          <a:xfrm flipH="true" flipV="false" rot="0">
            <a:off x="976315" y="2705099"/>
            <a:ext cx="5019674" cy="1143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06" name="Shape 106"/>
          <p:cNvSpPr txBox="false"/>
          <p:nvPr isPhoto="false"/>
        </p:nvSpPr>
        <p:spPr>
          <a:xfrm flipH="false" flipV="false" rot="0">
            <a:off x="976315" y="3076574"/>
            <a:ext cx="2552699" cy="5715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07" name="Shape 107"/>
          <p:cNvSpPr txBox="true"/>
          <p:nvPr isPhoto="false"/>
        </p:nvSpPr>
        <p:spPr>
          <a:xfrm flipH="false" flipV="false" rot="0">
            <a:off x="1547815" y="2790824"/>
            <a:ext cx="2066476" cy="4381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передаём код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false"/>
          <p:nvPr isPhoto="false"/>
        </p:nvSpPr>
        <p:spPr>
          <a:xfrm flipH="false" flipV="false" rot="0">
            <a:off x="3652839" y="3457573"/>
            <a:ext cx="2428875" cy="2095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09" name="Shape 109"/>
          <p:cNvSpPr txBox="true"/>
          <p:nvPr isPhoto="false"/>
        </p:nvSpPr>
        <p:spPr>
          <a:xfrm flipH="false" flipV="false" rot="0">
            <a:off x="3633789" y="2867024"/>
            <a:ext cx="2542727" cy="60007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объединяем наш секрет и код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0" name="Shape 110"/>
          <p:cNvSpPr txBox="false"/>
          <p:nvPr isPhoto="false"/>
        </p:nvSpPr>
        <p:spPr>
          <a:xfrm flipH="true" flipV="false" rot="0">
            <a:off x="3795714" y="4029073"/>
            <a:ext cx="2333625" cy="2000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11" name="Shape 111"/>
          <p:cNvSpPr txBox="true"/>
          <p:nvPr isPhoto="false"/>
        </p:nvSpPr>
        <p:spPr>
          <a:xfrm flipH="false" flipV="false" rot="0">
            <a:off x="3729039" y="3648073"/>
            <a:ext cx="2666552" cy="6096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получаем access_token и refresh_token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false"/>
          <p:nvPr isPhoto="false"/>
        </p:nvSpPr>
        <p:spPr>
          <a:xfrm flipH="false" flipV="false" rot="0">
            <a:off x="3652839" y="4476749"/>
            <a:ext cx="5172074" cy="190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13" name="Shape 113"/>
          <p:cNvSpPr txBox="true"/>
          <p:nvPr isPhoto="false"/>
        </p:nvSpPr>
        <p:spPr>
          <a:xfrm flipH="false" flipV="false" rot="0">
            <a:off x="4586290" y="4143373"/>
            <a:ext cx="4447726" cy="571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 данных используя access_token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4" name="Shape 114"/>
          <p:cNvSpPr txBox="false"/>
          <p:nvPr isPhoto="false"/>
        </p:nvSpPr>
        <p:spPr>
          <a:xfrm flipH="true" flipV="true" rot="0">
            <a:off x="3709989" y="5057774"/>
            <a:ext cx="5124449" cy="95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len="med" type="none" w="med"/>
            <a:tailEnd len="med" type="arrow" w="med"/>
          </a:ln>
        </p:spPr>
        <p:txBody>
          <a:bodyPr bIns="45720" lIns="91440" rIns="91440" tIns="45720"/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</a:p>
        </p:txBody>
      </p:sp>
      <p:sp>
        <p:nvSpPr>
          <p:cNvPr hidden="false" id="115" name="Shape 115"/>
          <p:cNvSpPr txBox="true"/>
          <p:nvPr isPhoto="false"/>
        </p:nvSpPr>
        <p:spPr>
          <a:xfrm flipH="false" flipV="false" rot="0">
            <a:off x="4957765" y="4648199"/>
            <a:ext cx="2761802" cy="4762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наши файлы с гугл диска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6" name="Shape 116"/>
          <p:cNvSpPr txBox="true"/>
          <p:nvPr isPhoto="false"/>
        </p:nvSpPr>
        <p:spPr>
          <a:xfrm flipH="false" flipV="false" rot="0">
            <a:off x="3595689" y="4095748"/>
            <a:ext cx="5304977" cy="962025"/>
          </a:xfrm>
          <a:prstGeom prst="rect">
            <a:avLst/>
          </a:prstGeom>
          <a:ln>
            <a:solidFill>
              <a:srgbClr val="000000"/>
            </a:solidFill>
            <a:prstDash val="solid"/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>
              <a:defRPr sz="1600">
                <a:latin typeface="+mn-lt"/>
                <a:ea typeface="+mn-ea"/>
                <a:cs typeface="+mn-cs"/>
              </a:defRPr>
            </a:lvl1pPr>
            <a:lvl2pPr indent="0" lvl="1" marL="457200">
              <a:defRPr sz="1600">
                <a:latin typeface="+mn-lt"/>
                <a:ea typeface="+mn-ea"/>
                <a:cs typeface="+mn-cs"/>
              </a:defRPr>
            </a:lvl2pPr>
            <a:lvl3pPr indent="0" lvl="2" marL="914400">
              <a:defRPr sz="1600">
                <a:latin typeface="+mn-lt"/>
                <a:ea typeface="+mn-ea"/>
                <a:cs typeface="+mn-cs"/>
              </a:defRPr>
            </a:lvl3pPr>
            <a:lvl4pPr indent="0" lvl="3" marL="1371600">
              <a:defRPr sz="1600">
                <a:latin typeface="+mn-lt"/>
                <a:ea typeface="+mn-ea"/>
                <a:cs typeface="+mn-cs"/>
              </a:defRPr>
            </a:lvl4pPr>
            <a:lvl5pPr indent="0" lvl="4" marL="1828800">
              <a:defRPr sz="1600">
                <a:latin typeface="+mn-lt"/>
                <a:ea typeface="+mn-ea"/>
                <a:cs typeface="+mn-cs"/>
              </a:defRPr>
            </a:lvl5pPr>
            <a:lvl6pPr indent="0" lvl="5" marL="2286000">
              <a:defRPr sz="1600">
                <a:latin typeface="+mn-lt"/>
                <a:ea typeface="+mn-ea"/>
                <a:cs typeface="+mn-cs"/>
              </a:defRPr>
            </a:lvl6pPr>
            <a:lvl7pPr indent="0" lvl="6" marL="2743200">
              <a:defRPr sz="1600">
                <a:latin typeface="+mn-lt"/>
                <a:ea typeface="+mn-ea"/>
                <a:cs typeface="+mn-cs"/>
              </a:defRPr>
            </a:lvl7pPr>
            <a:lvl8pPr indent="0" lvl="7" marL="3200400">
              <a:defRPr sz="1600">
                <a:latin typeface="+mn-lt"/>
                <a:ea typeface="+mn-ea"/>
                <a:cs typeface="+mn-cs"/>
              </a:defRPr>
            </a:lvl8pPr>
            <a:lvl9pPr indent="0" lvl="8" marL="3657600">
              <a:defRPr sz="16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7" name="Shape 117"/>
          <p:cNvSpPr txBox="true"/>
          <p:nvPr isPhoto="false"/>
        </p:nvSpPr>
        <p:spPr>
          <a:xfrm flipH="false" flipV="false" rot="0">
            <a:off x="6613074" y="2909835"/>
            <a:ext cx="2197419" cy="2344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тут используем JWT токены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8" name="Shape 118"/>
          <p:cNvSpPr txBox="false"/>
          <p:nvPr isPhoto="false"/>
        </p:nvSpPr>
        <p:spPr>
          <a:xfrm flipH="true" flipV="false" rot="0">
            <a:off x="6487469" y="3181977"/>
            <a:ext cx="638488" cy="826895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>
              <a:solidFill>
                <a:srgbClr val="91C25F"/>
              </a:solidFill>
            </a:endParaRPr>
          </a:p>
        </p:txBody>
      </p:sp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9" name="GroupShape 1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0" name="Shape 12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Почему сервер авторизации и сервер ресурсов не общаются во время OAuth?</a:t>
            </a:r>
          </a:p>
        </p:txBody>
      </p:sp>
      <p:sp>
        <p:nvSpPr>
          <p:cNvPr hidden="false" id="121" name="Shape 12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(вспомним)</a:t>
            </a:r>
          </a:p>
          <a:p>
            <a:r>
              <a:t>access_token – коротко живущий токен</a:t>
            </a:r>
          </a:p>
          <a:p>
            <a:r>
              <a:t>refresh_token – долго живущий токен</a:t>
            </a:r>
          </a:p>
          <a:p>
            <a:pPr indent="0" marL="0">
              <a:buNone/>
            </a:pPr>
          </a:p>
        </p:txBody>
      </p:sp>
    </p:spTree>
  </p:cSld>
</p:sld>
</file>

<file path=ppt/slides/slide1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2" name="GroupShape 1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3" name="Shape 12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Почему сервер авторизации и сервер ресурсов не общаются во время OAuth?</a:t>
            </a:r>
          </a:p>
        </p:txBody>
      </p:sp>
      <p:sp>
        <p:nvSpPr>
          <p:cNvPr hidden="false" id="124" name="Shape 124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(вспомним)</a:t>
            </a:r>
          </a:p>
          <a:p>
            <a:r>
              <a:t>access_token – коротко живущий токен</a:t>
            </a:r>
          </a:p>
          <a:p>
            <a:r>
              <a:t>refresh_token – долго живущий токен</a:t>
            </a:r>
          </a:p>
          <a:p>
            <a:pPr indent="0" marL="0">
              <a:buNone/>
            </a:pPr>
          </a:p>
        </p:txBody>
      </p:sp>
      <p:pic>
        <p:nvPicPr>
          <p:cNvPr hidden="false" id="126" name="Picture 126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5357029" y="1297912"/>
            <a:ext cx="3181796" cy="3505691"/>
          </a:xfrm>
          <a:prstGeom prst="rect">
            <a:avLst/>
          </a:prstGeom>
        </p:spPr>
      </p:pic>
      <p:sp>
        <p:nvSpPr>
          <p:cNvPr hidden="false" id="127" name="Shape 127"/>
          <p:cNvSpPr txBox="true"/>
          <p:nvPr isPhoto="false"/>
        </p:nvSpPr>
        <p:spPr>
          <a:xfrm flipH="false" flipV="false" rot="0">
            <a:off x="699200" y="2669093"/>
            <a:ext cx="3600002" cy="1333499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 – expiration time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jti – это UUID для токена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iat – Issued At(время создания токена), можно отозвать токены до определённой даты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8" name="GroupShape 1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9" name="Shape 12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opaque</a:t>
            </a:r>
          </a:p>
        </p:txBody>
      </p:sp>
      <p:sp>
        <p:nvSpPr>
          <p:cNvPr hidden="false" id="130" name="Shape 130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"f0f8f0f0-3f3f-4f3f-8f3f-f3f3f3f3f3f3"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"7x8shd9s8d7f6s5d4f3s2d1f0s9d8s7d6f5"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"AKDJF9834JFKDSJF9834JFKDJF9834JFKDJ"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0">
              <a:buNone/>
            </a:pPr>
            <a:r>
              <a:t>это случайные строки</a:t>
            </a:r>
          </a:p>
        </p:txBody>
      </p:sp>
    </p:spTree>
  </p:cSld>
</p:sld>
</file>

<file path=ppt/slides/slide1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1" name="GroupShape 1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2" name="Shape 13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opaque</a:t>
            </a:r>
          </a:p>
        </p:txBody>
      </p:sp>
      <p:sp>
        <p:nvSpPr>
          <p:cNvPr hidden="false" id="133" name="Shape 13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"f0f8f0f0-3f3f-4f3f-8f3f-f3f3f3f3f3f3"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"7x8shd9s8d7f6s5d4f3s2d1f0s9d8s7d6f5"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"AKDJF9834JFKDSJF9834JFKDJF9834JFKDJ"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0">
              <a:buNone/>
            </a:pPr>
            <a:r>
              <a:t>это случайные строки</a:t>
            </a:r>
          </a:p>
        </p:txBody>
      </p:sp>
      <p:sp>
        <p:nvSpPr>
          <p:cNvPr hidden="false" id="134" name="Shape 134"/>
          <p:cNvSpPr txBox="true"/>
          <p:nvPr isPhoto="false"/>
        </p:nvSpPr>
        <p:spPr>
          <a:xfrm flipH="false" flipV="false" rot="0">
            <a:off x="3996315" y="2983104"/>
            <a:ext cx="1956678" cy="160564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b="true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ресурсный сервер</a:t>
            </a:r>
            <a:endParaRPr b="true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отправляет на проверку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5" name="Shape 135"/>
          <p:cNvSpPr txBox="true"/>
          <p:nvPr isPhoto="false"/>
        </p:nvSpPr>
        <p:spPr>
          <a:xfrm flipH="false" flipV="false" rot="0">
            <a:off x="6927085" y="3004038"/>
            <a:ext cx="1956678" cy="17103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b="true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 b="true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проверяет токен, владельца, какие права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возвращает данные о правах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false"/>
          <p:nvPr isPhoto="false"/>
        </p:nvSpPr>
        <p:spPr>
          <a:xfrm flipH="false" flipV="true" rot="0">
            <a:off x="5943183" y="3181977"/>
            <a:ext cx="952500" cy="2093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37" name="Shape 137"/>
          <p:cNvSpPr txBox="false"/>
          <p:nvPr isPhoto="false"/>
        </p:nvSpPr>
        <p:spPr>
          <a:xfrm flipH="true" flipV="true" rot="0">
            <a:off x="6026919" y="4249615"/>
            <a:ext cx="826896" cy="10466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38" name="Shape 138"/>
          <p:cNvSpPr txBox="true"/>
          <p:nvPr isPhoto="false"/>
        </p:nvSpPr>
        <p:spPr>
          <a:xfrm flipH="false" flipV="false" rot="0">
            <a:off x="780845" y="2941236"/>
            <a:ext cx="2270689" cy="10090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третий запрос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"Bearer: opaque_token"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false"/>
          <p:nvPr isPhoto="false"/>
        </p:nvSpPr>
        <p:spPr>
          <a:xfrm flipH="false" flipV="true" rot="0">
            <a:off x="3096150" y="3297115"/>
            <a:ext cx="743159" cy="3140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</p:spTree>
  </p:cSld>
</p:sld>
</file>

<file path=ppt/slides/slide1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0" name="GroupShape 14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1" name="Shape 14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интроспекция</a:t>
            </a:r>
          </a:p>
        </p:txBody>
      </p:sp>
      <p:sp>
        <p:nvSpPr>
          <p:cNvPr hidden="false" id="142" name="Shape 142"/>
          <p:cNvSpPr txBox="true"/>
          <p:nvPr isPhoto="false"/>
        </p:nvSpPr>
        <p:spPr>
          <a:xfrm flipH="false" flipV="false" rot="0">
            <a:off x="364255" y="1643324"/>
            <a:ext cx="2699837" cy="22231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b="true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ресурсный сервер</a:t>
            </a:r>
            <a:endParaRPr b="true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отправляет на проверку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3" name="Shape 143"/>
          <p:cNvSpPr txBox="true"/>
          <p:nvPr isPhoto="false"/>
        </p:nvSpPr>
        <p:spPr>
          <a:xfrm flipH="false" flipV="false" rot="0">
            <a:off x="6738678" y="1360714"/>
            <a:ext cx="2239288" cy="23592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b="true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 b="true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проверяет токен, владельца, какие права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возвращает данные о правах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4" name="Shape 144"/>
          <p:cNvSpPr txBox="false"/>
          <p:nvPr isPhoto="false"/>
        </p:nvSpPr>
        <p:spPr>
          <a:xfrm flipH="false" flipV="false" rot="0">
            <a:off x="3274090" y="1905000"/>
            <a:ext cx="3307582" cy="31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5" name="Shape 145"/>
          <p:cNvSpPr txBox="false"/>
          <p:nvPr isPhoto="false"/>
        </p:nvSpPr>
        <p:spPr>
          <a:xfrm flipH="true" flipV="true" rot="0">
            <a:off x="3315958" y="2512088"/>
            <a:ext cx="3349450" cy="20933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6" name="Shape 146"/>
          <p:cNvSpPr txBox="true"/>
          <p:nvPr isPhoto="false"/>
        </p:nvSpPr>
        <p:spPr>
          <a:xfrm flipH="false" flipV="false" rot="0">
            <a:off x="3535766" y="1559587"/>
            <a:ext cx="3600001" cy="1333499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 запрос с токеном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48" name="Picture 148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3410161" y="2721428"/>
            <a:ext cx="3027149" cy="2202001"/>
          </a:xfrm>
          <a:prstGeom prst="rect">
            <a:avLst/>
          </a:prstGeom>
        </p:spPr>
      </p:pic>
    </p:spTree>
  </p:cSld>
</p:sld>
</file>

<file path=ppt/slides/slide1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9" name="GroupShape 14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0" name="Shape 15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практика</a:t>
            </a:r>
          </a:p>
        </p:txBody>
      </p:sp>
      <p:sp>
        <p:nvSpPr>
          <p:cNvPr hidden="false" id="151" name="Shape 15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установить PyJWT, я решил чисто на доку ссылку дать без вставок команд </a:t>
            </a:r>
            <a:r>
              <a:t>https://pyjwt.readthedocs.io/en/stable/</a:t>
            </a:r>
          </a:p>
          <a:p>
            <a:r>
              <a:t>написать функцию, которая принимает id пользователя, роль пользователя и время через которое токен должен истечь. Возвращает jwt токен, чтобы закодировать нужно использовать jwt.encode(), впишите там HS256(симметричный алгоритм)</a:t>
            </a:r>
            <a:endParaRPr b="false">
              <a:solidFill>
                <a:srgbClr val="CCCCC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r>
              <a:t>написать функцию которая  верифицирует токен jwt.decode</a:t>
            </a:r>
          </a:p>
          <a:p>
            <a:r>
              <a:t>попробуйте сгенерировать и вирифицировать ключ, чтоб проверить программу</a:t>
            </a: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MyOffice-CoreFramework-Windows/36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2026-01-06T07:09:07Z</dcterms:created>
  <dcterms:modified xsi:type="dcterms:W3CDTF">2026-01-06T14:38:51Z</dcterms:modified>
</cp:coreProperties>
</file>