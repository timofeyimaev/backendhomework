
<file path=[Content_Types].xml><?xml version="1.0" encoding="utf-8"?>
<Types xmlns="http://schemas.openxmlformats.org/package/2006/content-types">
  <Default ContentType="image/png" Extension="pn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5" cy="5143683"/>
  <p:notesSz cx="5143683" cy="9144005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17" Target="slides/slide15.xml" Type="http://schemas.openxmlformats.org/officeDocument/2006/relationships/slide"/>
  <Relationship Id="rId7" Target="slides/slide5.xml" Type="http://schemas.openxmlformats.org/officeDocument/2006/relationships/slide"/>
  <Relationship Id="rId6" Target="slides/slide4.xml" Type="http://schemas.openxmlformats.org/officeDocument/2006/relationships/slide"/>
  <Relationship Id="rId14" Target="slides/slide12.xml" Type="http://schemas.openxmlformats.org/officeDocument/2006/relationships/slide"/>
  <Relationship Id="rId13" Target="slides/slide11.xml" Type="http://schemas.openxmlformats.org/officeDocument/2006/relationships/slide"/>
  <Relationship Id="rId18" Target="slides/slide16.xml" Type="http://schemas.openxmlformats.org/officeDocument/2006/relationships/slide"/>
  <Relationship Id="rId4" Target="slides/slide2.xml" Type="http://schemas.openxmlformats.org/officeDocument/2006/relationships/slide"/>
  <Relationship Id="rId3" Target="slides/slide1.xml" Type="http://schemas.openxmlformats.org/officeDocument/2006/relationships/slide"/>
  <Relationship Id="rId12" Target="slides/slide10.xml" Type="http://schemas.openxmlformats.org/officeDocument/2006/relationships/slide"/>
  <Relationship Id="rId10" Target="slides/slide8.xml" Type="http://schemas.openxmlformats.org/officeDocument/2006/relationships/slide"/>
  <Relationship Id="rId19" Target="slides/slide17.xml" Type="http://schemas.openxmlformats.org/officeDocument/2006/relationships/slide"/>
  <Relationship Id="rId5" Target="slides/slide3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16" Target="slides/slide14.xml" Type="http://schemas.openxmlformats.org/officeDocument/2006/relationships/slide"/>
  <Relationship Id="rId20" Target="tableStyles.xml" Type="http://schemas.openxmlformats.org/officeDocument/2006/relationships/tableStyles"/>
  <Relationship Id="rId2" Target="slideMasters/slideMaster1.xml" Type="http://schemas.openxmlformats.org/officeDocument/2006/relationships/slideMaster"/>
  <Relationship Id="rId9" Target="slides/slide7.xml" Type="http://schemas.openxmlformats.org/officeDocument/2006/relationships/slide"/>
  <Relationship Id="rId15" Target="slides/slide13.xml" Type="http://schemas.openxmlformats.org/officeDocument/2006/relationships/slide"/>
  <Relationship Id="rId1" Target="theme/theme1.xml" Type="http://schemas.openxmlformats.org/officeDocument/2006/relationships/them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true"/>
          <p:nvPr isPhoto="false">
            <p:ph idx="0" type="title"/>
          </p:nvPr>
        </p:nvSpPr>
        <p:spPr>
          <a:xfrm flipH="false" flipV="false" rot="0">
            <a:off x="1143000" y="841801"/>
            <a:ext cx="6858004" cy="3458823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4" name="GroupShape 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" name="Shape 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6" name="Shape 6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" name="Shape 14"/>
          <p:cNvSpPr txBox="true"/>
          <p:nvPr isPhoto="false">
            <p:ph idx="0" type="title"/>
          </p:nvPr>
        </p:nvSpPr>
        <p:spPr>
          <a:xfrm flipH="false" flipV="false" rot="0">
            <a:off x="1143000" y="841802"/>
            <a:ext cx="6858004" cy="1790764"/>
          </a:xfrm>
          <a:prstGeom prst="rect">
            <a:avLst/>
          </a:prstGeom>
        </p:spPr>
        <p:txBody>
          <a:bodyPr anchor="b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  <p:sp>
        <p:nvSpPr>
          <p:cNvPr hidden="false" id="15" name="Shape 15"/>
          <p:cNvSpPr txBox="true"/>
          <p:nvPr isPhoto="false">
            <p:ph idx="3" type="subTitle"/>
          </p:nvPr>
        </p:nvSpPr>
        <p:spPr>
          <a:xfrm flipH="false" flipV="false" rot="0">
            <a:off x="1143000" y="2701624"/>
            <a:ext cx="6858004" cy="1241865"/>
          </a:xfrm>
          <a:prstGeom prst="rect">
            <a:avLst/>
          </a:prstGeom>
        </p:spPr>
        <p:txBody>
          <a:bodyPr anchor="t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1pPr>
            <a:lvl2pPr algn="ctr" indent="0" lvl="1" marL="457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2pPr>
            <a:lvl3pPr algn="ctr" indent="0" lvl="2" marL="914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3pPr>
            <a:lvl4pPr algn="ctr" indent="0" lvl="3" marL="1371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4pPr>
            <a:lvl5pPr algn="ctr" indent="0" lvl="4" marL="18288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5pPr>
            <a:lvl6pPr algn="ctr" indent="0" lvl="5" marL="2286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6pPr>
            <a:lvl7pPr algn="ctr" indent="0" lvl="6" marL="2743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7pPr>
            <a:lvl8pPr algn="ctr" indent="0" lvl="7" marL="3200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8pPr>
            <a:lvl9pPr algn="ctr" indent="0" lvl="8" marL="3657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9" name="GroupShape 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" name="Shape 1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1" name="Shape 11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2" name="Shape 12"/>
          <p:cNvSpPr txBox="true"/>
          <p:nvPr isPhoto="false">
            <p:ph idx="2" type="body"/>
          </p:nvPr>
        </p:nvSpPr>
        <p:spPr>
          <a:xfrm flipH="false" flipV="false" rot="0">
            <a:off x="4629152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6" name="GroupShape 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4" Target="../slideLayouts/slideLayout3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chemeClr val="bg1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994206"/>
          </a:xfrm>
          <a:prstGeom prst="rect">
            <a:avLst/>
          </a:prstGeom>
          <a:noFill/>
          <a:ln>
            <a:noFill/>
            <a:headEnd len="med" type="none" w="med"/>
            <a:tailEnd len="med" type="none" w="med"/>
          </a:ln>
        </p:spPr>
        <p:txBody>
          <a:bodyPr anchor="ctr" bIns="45000" lIns="90000" rIns="90000" tIns="45000">
            <a:normAutofit fontScale="100%" lnSpcReduction="0%"/>
          </a:bodyPr>
          <a:p/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  <a:noFill/>
          <a:ln>
            <a:noFill/>
            <a:headEnd len="med" type="none" w="med"/>
            <a:tailEnd len="med" type="none" w="med"/>
          </a:ln>
        </p:spPr>
        <p:txBody>
          <a:bodyPr anchor="t" bIns="45000" lIns="90000" rIns="90000" tIns="45000">
            <a:normAutofit fontScale="100%" lnSpcReduction="0%"/>
          </a:bodyPr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defPPr/>
      <a:lvl1pPr algn="l" indent="0" lvl="0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1pPr>
      <a:lvl2pPr algn="l" indent="0" lvl="1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2pPr>
      <a:lvl3pPr algn="l" indent="0" lvl="2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3pPr>
      <a:lvl4pPr algn="l" indent="0" lvl="3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4pPr>
      <a:lvl5pPr algn="l" indent="0" lvl="4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5pPr>
      <a:lvl6pPr algn="l" indent="0" lvl="5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6pPr>
      <a:lvl7pPr algn="l" indent="0" lvl="6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7pPr>
      <a:lvl8pPr algn="l" indent="0" lvl="7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8pPr>
      <a:lvl9pPr algn="l" indent="0" lvl="8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9pPr>
    </p:titleStyle>
    <p:bodyStyle>
      <a:defPPr/>
      <a:lvl1pPr algn="l" indent="-314325" lvl="0" marL="31432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800">
          <a:latin typeface="+mn-lt"/>
          <a:ea typeface="+mn-ea"/>
          <a:cs typeface="+mn-cs"/>
        </a:defRPr>
      </a:lvl1pPr>
      <a:lvl2pPr algn="l" indent="-279400" lvl="1" marL="736600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600">
          <a:latin typeface="+mn-lt"/>
          <a:ea typeface="+mn-ea"/>
          <a:cs typeface="+mn-cs"/>
        </a:defRPr>
      </a:lvl2pPr>
      <a:lvl3pPr algn="l" indent="-244475" lvl="2" marL="1158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3pPr>
      <a:lvl4pPr algn="l" indent="-244475" lvl="3" marL="1616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4pPr>
      <a:lvl5pPr algn="l" indent="-244475" lvl="4" marL="20732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5pPr>
      <a:lvl6pPr algn="l" indent="-244475" lvl="5" marL="25304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6pPr>
      <a:lvl7pPr algn="l" indent="-244475" lvl="6" marL="29876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7pPr>
      <a:lvl8pPr algn="l" indent="-244475" lvl="7" marL="3444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8pPr>
      <a:lvl9pPr algn="l" indent="-244475" lvl="8" marL="3902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9pPr>
    </p:bodyStyle>
    <p:otherStyle>
      <a:defPPr/>
      <a:lvl1pPr lvl="0">
        <a:defRPr sz="1600">
          <a:latin typeface="+mn-lt"/>
          <a:ea typeface="+mn-ea"/>
          <a:cs typeface="+mn-cs"/>
        </a:defRPr>
      </a:lvl1pPr>
      <a:lvl2pPr lvl="1">
        <a:defRPr sz="1600">
          <a:latin typeface="+mn-lt"/>
          <a:ea typeface="+mn-ea"/>
          <a:cs typeface="+mn-cs"/>
        </a:defRPr>
      </a:lvl2pPr>
      <a:lvl3pPr lvl="2">
        <a:defRPr sz="1600">
          <a:latin typeface="+mn-lt"/>
          <a:ea typeface="+mn-ea"/>
          <a:cs typeface="+mn-cs"/>
        </a:defRPr>
      </a:lvl3pPr>
      <a:lvl4pPr lvl="3">
        <a:defRPr sz="1600">
          <a:latin typeface="+mn-lt"/>
          <a:ea typeface="+mn-ea"/>
          <a:cs typeface="+mn-cs"/>
        </a:defRPr>
      </a:lvl4pPr>
      <a:lvl5pPr lvl="4">
        <a:defRPr sz="1600">
          <a:latin typeface="+mn-lt"/>
          <a:ea typeface="+mn-ea"/>
          <a:cs typeface="+mn-cs"/>
        </a:defRPr>
      </a:lvl5pPr>
      <a:lvl6pPr lvl="5">
        <a:defRPr sz="1600">
          <a:latin typeface="+mn-lt"/>
          <a:ea typeface="+mn-ea"/>
          <a:cs typeface="+mn-cs"/>
        </a:defRPr>
      </a:lvl6pPr>
      <a:lvl7pPr lvl="6">
        <a:defRPr sz="1600">
          <a:latin typeface="+mn-lt"/>
          <a:ea typeface="+mn-ea"/>
          <a:cs typeface="+mn-cs"/>
        </a:defRPr>
      </a:lvl7pPr>
      <a:lvl8pPr lvl="7">
        <a:defRPr sz="1600">
          <a:latin typeface="+mn-lt"/>
          <a:ea typeface="+mn-ea"/>
          <a:cs typeface="+mn-cs"/>
        </a:defRPr>
      </a:lvl8pPr>
      <a:lvl9pPr lvl="8">
        <a:defRPr sz="16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media/2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media/3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media/4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media/5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media/6.png" Type="http://schemas.openxmlformats.org/officeDocument/2006/relationships/image"/>
  <Relationship Id="rId2" Target="../media/7.png" Type="http://schemas.openxmlformats.org/officeDocument/2006/relationships/image"/>
  <Relationship Id="rId3" Target="../media/8.png" Type="http://schemas.openxmlformats.org/officeDocument/2006/relationships/image"/>
  <Relationship Id="rId4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media/9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media/10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media/11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Инкапсуляция</a:t>
            </a:r>
          </a:p>
          <a:p>
            <a:r>
              <a:rPr sz="1000"/>
              <a:t>что это?</a:t>
            </a:r>
            <a:endParaRPr sz="1000"/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1" name="GroupShape 2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" name="Shape 2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у нас есть рабочий класс, но мы не понимаем как он работает</a:t>
            </a:r>
          </a:p>
        </p:txBody>
      </p:sp>
      <p:sp>
        <p:nvSpPr>
          <p:cNvPr hidden="false" id="23" name="Shape 23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25" name="Picture 2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1627909" y="1354758"/>
            <a:ext cx="6192912" cy="3652894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6" name="GroupShape 2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7" name="Shape 2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скрываем реализацию</a:t>
            </a:r>
          </a:p>
        </p:txBody>
      </p:sp>
      <p:sp>
        <p:nvSpPr>
          <p:cNvPr hidden="false" id="28" name="Shape 28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30" name="Picture 3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2070487" y="1470212"/>
            <a:ext cx="5185003" cy="3399493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1" name="GroupShape 3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2" name="Shape 3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снова я написал класс, тут вроде всё норм, один метод рабочий</a:t>
            </a:r>
          </a:p>
        </p:txBody>
      </p:sp>
      <p:sp>
        <p:nvSpPr>
          <p:cNvPr hidden="false" id="33" name="Shape 33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35" name="Picture 3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379976" y="1510812"/>
            <a:ext cx="8701552" cy="2208647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6" name="GroupShape 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7" name="Shape 37"/>
          <p:cNvSpPr txBox="true"/>
          <p:nvPr isPhoto="false">
            <p:ph idx="0" type="title"/>
          </p:nvPr>
        </p:nvSpPr>
        <p:spPr>
          <a:xfrm flipH="false" flipV="false" rot="0">
            <a:off x="184730" y="238697"/>
            <a:ext cx="8675644" cy="994206"/>
          </a:xfrm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но я задумывал, что x всегда неотрицательный</a:t>
            </a:r>
          </a:p>
        </p:txBody>
      </p:sp>
      <p:sp>
        <p:nvSpPr>
          <p:cNvPr hidden="false" id="38" name="Shape 38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40" name="Picture 4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819730" y="1297031"/>
            <a:ext cx="7460805" cy="3658974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1" name="GroupShape 4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2" name="Shape 4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скрываем состояние</a:t>
            </a:r>
          </a:p>
        </p:txBody>
      </p:sp>
      <p:sp>
        <p:nvSpPr>
          <p:cNvPr hidden="false" id="43" name="Shape 43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45" name="Picture 4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1050639" y="1133470"/>
            <a:ext cx="7229384" cy="3834569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6" name="GroupShape 4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7" name="Shape 47"/>
          <p:cNvSpPr txBox="true"/>
          <p:nvPr isPhoto="false">
            <p:ph idx="0" type="title"/>
          </p:nvPr>
        </p:nvSpPr>
        <p:spPr>
          <a:xfrm flipH="false" flipV="false" rot="0">
            <a:off x="136624" y="3442561"/>
            <a:ext cx="5308220" cy="994207"/>
          </a:xfrm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если есть </a:t>
            </a:r>
          </a:p>
          <a:p>
            <a:r>
              <a:t>ссылочные типы</a:t>
            </a:r>
          </a:p>
        </p:txBody>
      </p:sp>
      <p:sp>
        <p:nvSpPr>
          <p:cNvPr hidden="false" id="48" name="Shape 48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50" name="Picture 5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4273745" y="3240515"/>
            <a:ext cx="5318045" cy="1851494"/>
          </a:xfrm>
          <a:prstGeom prst="rect">
            <a:avLst/>
          </a:prstGeom>
        </p:spPr>
      </p:pic>
      <p:pic>
        <p:nvPicPr>
          <p:cNvPr hidden="false" id="52" name="Picture 52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-373300" y="171349"/>
            <a:ext cx="5555123" cy="2914244"/>
          </a:xfrm>
          <a:prstGeom prst="rect">
            <a:avLst/>
          </a:prstGeom>
        </p:spPr>
      </p:pic>
      <p:pic>
        <p:nvPicPr>
          <p:cNvPr hidden="false" id="54" name="Picture 54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5216624" y="161727"/>
            <a:ext cx="2527002" cy="2821657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55" name="GroupShape 5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6" name="Shape 5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теперь измениния передаваемого объекта, не будут менять А</a:t>
            </a:r>
          </a:p>
        </p:txBody>
      </p:sp>
      <p:sp>
        <p:nvSpPr>
          <p:cNvPr hidden="false" id="57" name="Shape 57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59" name="Picture 59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1291169" y="1335515"/>
            <a:ext cx="6854960" cy="3674223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60" name="GroupShape 6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1" name="Shape 6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ctr" indent="0" marL="0">
              <a:buNone/>
            </a:pPr>
            <a:r>
              <a:t>сокрытие в питоне</a:t>
            </a:r>
          </a:p>
        </p:txBody>
      </p:sp>
      <p:sp>
        <p:nvSpPr>
          <p:cNvPr hidden="false" id="62" name="Shape 62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64" name="Picture 64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2397609" y="1364379"/>
            <a:ext cx="4498264" cy="3806334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65" name="GroupShape 6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6" name="Shape 66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2264207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Получается инкапсуляция это просто сокрытие? чтобы пользователь не сделал лишнего?</a:t>
            </a:r>
          </a:p>
        </p:txBody>
      </p:sp>
      <p:sp>
        <p:nvSpPr>
          <p:cNvPr hidden="false" id="67" name="Shape 67"/>
          <p:cNvSpPr txBox="true"/>
          <p:nvPr isPhoto="false">
            <p:ph idx="1" type="body"/>
          </p:nvPr>
        </p:nvSpPr>
        <p:spPr>
          <a:xfrm flipH="false" flipV="false" rot="0">
            <a:off x="628650" y="2725858"/>
            <a:ext cx="7886704" cy="1907029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endParaRPr b="true" sz="3600"/>
          </a:p>
        </p:txBody>
      </p:sp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68" name="GroupShape 6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9" name="Shape 69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2264207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Получается инкапсуляция это просто сокрытие? чтобы пользователь не сделал лишнего?</a:t>
            </a:r>
          </a:p>
        </p:txBody>
      </p:sp>
      <p:sp>
        <p:nvSpPr>
          <p:cNvPr hidden="false" id="70" name="Shape 70"/>
          <p:cNvSpPr txBox="true"/>
          <p:nvPr isPhoto="false">
            <p:ph idx="1" type="body"/>
          </p:nvPr>
        </p:nvSpPr>
        <p:spPr>
          <a:xfrm flipH="false" flipV="false" rot="0">
            <a:off x="628650" y="2725858"/>
            <a:ext cx="7886704" cy="1907029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ctr" indent="0" marL="0">
              <a:buNone/>
            </a:pPr>
            <a:r>
              <a:rPr b="true" sz="3600"/>
              <a:t>нет</a:t>
            </a:r>
            <a:endParaRPr b="true" sz="3600"/>
          </a:p>
        </p:txBody>
      </p:sp>
    </p:spTree>
  </p:cSld>
</p:sld>
</file>

<file path=ppt/slides/slide1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1" name="GroupShape 7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2" name="Shape 7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цель инкапсуляции</a:t>
            </a:r>
          </a:p>
        </p:txBody>
      </p:sp>
      <p:sp>
        <p:nvSpPr>
          <p:cNvPr hidden="false" id="73" name="Shape 7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t>Привести </a:t>
            </a:r>
            <a:r>
              <a:t>список полей, методов и конструкторов, доступных к обращению у объекта</a:t>
            </a:r>
            <a:r>
              <a:t> в такую форму, которая будет безопасна и понятна для пользователя</a:t>
            </a:r>
          </a:p>
        </p:txBody>
      </p:sp>
      <p:sp>
        <p:nvSpPr>
          <p:cNvPr hidden="false" id="74" name="Shape 74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t>Привести </a:t>
            </a:r>
            <a:r>
              <a:t>список полей, методов и конструкторов, доступных к обращению у объекта</a:t>
            </a:r>
            <a:r>
              <a:t> в такую форму, которая будет безопасна и понятна для пользователя</a:t>
            </a:r>
          </a:p>
        </p:txBody>
      </p:sp>
    </p:spTree>
  </p:cSld>
</p:sld>
</file>

<file path=ppt/slides/slide1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5" name="GroupShape 7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6" name="Shape 7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цель инкапсуляции</a:t>
            </a:r>
          </a:p>
        </p:txBody>
      </p:sp>
      <p:sp>
        <p:nvSpPr>
          <p:cNvPr hidden="false" id="77" name="Shape 77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t>Привести </a:t>
            </a:r>
            <a:r>
              <a:t>список полей, методов и конструкторов, доступных к обращению у объекта</a:t>
            </a:r>
            <a:r>
              <a:t> в такую форму, которая будет безопасна и понятна для пользователя</a:t>
            </a:r>
          </a:p>
        </p:txBody>
      </p:sp>
      <p:sp>
        <p:nvSpPr>
          <p:cNvPr hidden="false" id="78" name="Shape 78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t>Привести </a:t>
            </a:r>
            <a:r>
              <a:t>список полей, методов и конструкторов, доступных к обращению у объекта</a:t>
            </a:r>
            <a:r>
              <a:t> в такую форму, которая будет безопасна и понятна для пользователя</a:t>
            </a: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rPr b="true"/>
              <a:t>Определение</a:t>
            </a:r>
            <a:endParaRPr b="true"/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rPr b="true"/>
              <a:t>Инкапсуляция </a:t>
            </a:r>
            <a:r>
              <a:rPr b="false"/>
              <a:t>- механизм, предназначенный для объединения данных и методов, использующих эти данные в один объект,  позволяющий скрывать внутренние данные компонента и детали реализации от других объектов и предоставляющий набор методов для взаимодействия с ним</a:t>
            </a:r>
            <a:endParaRPr b="true"/>
          </a:p>
        </p:txBody>
      </p:sp>
      <p:pic>
        <p:nvPicPr>
          <p:cNvPr hidden="false" id="80" name="Picture 8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6948442" y="3933242"/>
            <a:ext cx="1698346" cy="1261733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1" name="GroupShape 8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2" name="Shape 8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цель инкапсуляции</a:t>
            </a:r>
          </a:p>
        </p:txBody>
      </p:sp>
      <p:sp>
        <p:nvSpPr>
          <p:cNvPr hidden="false" id="83" name="Shape 8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t>Привести </a:t>
            </a:r>
            <a:r>
              <a:t>список полей, методов и конструкторов, доступных к обращению у объекта</a:t>
            </a:r>
            <a:r>
              <a:t> в такую форму, которая будет безопасна и понятна для пользователя</a:t>
            </a:r>
          </a:p>
        </p:txBody>
      </p:sp>
      <p:sp>
        <p:nvSpPr>
          <p:cNvPr hidden="false" id="84" name="Shape 84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t>Привести </a:t>
            </a:r>
            <a:r>
              <a:t>список полей, методов и конструкторов, доступных к обращению у объекта</a:t>
            </a:r>
            <a:r>
              <a:t> в такую форму, которая будет безопасна и понятна для пользователя</a:t>
            </a: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rPr b="true"/>
              <a:t>Определение</a:t>
            </a:r>
            <a:endParaRPr b="true"/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rPr b="true"/>
              <a:t>Инкапсуляция </a:t>
            </a:r>
            <a:r>
              <a:rPr b="false"/>
              <a:t>- механизм, предназначенный для объединения данных и методов, использующих эти данные в один объект,  позволяющий скрывать внутренние данные компонента и детали реализации от других объектов и предоставляющий набор методов для взаимодействия с ним</a:t>
            </a:r>
            <a:endParaRPr b="true"/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endParaRPr b="false"/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rPr b="true"/>
              <a:t>Всё-таки это просто сокрытие? </a:t>
            </a:r>
            <a:endParaRPr b="true"/>
          </a:p>
        </p:txBody>
      </p:sp>
    </p:spTree>
  </p:cSld>
</p:sld>
</file>

<file path=ppt/slides/slide1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5" name="GroupShape 8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6" name="Shape 8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marR="76200">
              <a:spcBef>
                <a:spcPts val="600"/>
              </a:spcBef>
              <a:spcAft>
                <a:spcPts val="600"/>
              </a:spcAft>
            </a:pPr>
            <a:r>
              <a:rPr b="true" sz="1400"/>
              <a:t>Сокрытие</a:t>
            </a:r>
            <a:r>
              <a:rPr sz="1400"/>
              <a:t> - механизм языка, позволяющий ограничить доступ одних компонентов программы к данным другой</a:t>
            </a:r>
            <a:endParaRPr sz="1400"/>
          </a:p>
        </p:txBody>
      </p:sp>
      <p:sp>
        <p:nvSpPr>
          <p:cNvPr hidden="false" id="87" name="Shape 87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</a:p>
        </p:txBody>
      </p:sp>
    </p:spTree>
  </p:cSld>
</p:sld>
</file>

<file path=ppt/slides/slide1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8" name="GroupShape 8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9" name="Shape 8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marR="76200">
              <a:spcBef>
                <a:spcPts val="600"/>
              </a:spcBef>
              <a:spcAft>
                <a:spcPts val="600"/>
              </a:spcAft>
            </a:pPr>
            <a:r>
              <a:rPr b="true" sz="1400"/>
              <a:t>Сокрытие</a:t>
            </a:r>
            <a:r>
              <a:rPr sz="1400"/>
              <a:t> - механизм языка, позволяющий ограничить доступ одних компонентов программы к данным другой</a:t>
            </a:r>
            <a:endParaRPr sz="1400"/>
          </a:p>
        </p:txBody>
      </p:sp>
      <p:sp>
        <p:nvSpPr>
          <p:cNvPr hidden="false" id="90" name="Shape 90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  <a:r>
              <a:t>сокрытие - одна из фич инкапсуляции, но не она сама</a:t>
            </a: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  <a:buNone/>
            </a:pPr>
          </a:p>
        </p:txBody>
      </p:sp>
    </p:spTree>
  </p:cSld>
</p:sld>
</file>

<file path=ppt/slides/slide1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1" name="GroupShape 9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2" name="Shape 9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практика</a:t>
            </a:r>
          </a:p>
        </p:txBody>
      </p:sp>
      <p:sp>
        <p:nvSpPr>
          <p:cNvPr hidden="false" id="93" name="Shape 9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создать класс Player у которого есть здоровье и макс здоровье</a:t>
            </a:r>
          </a:p>
          <a:p>
            <a:r>
              <a:t>создать класс MedKit с методом OnCollid который принимает игрока и увеличивает его здоровье на 1</a:t>
            </a:r>
          </a:p>
          <a:p>
            <a:r>
              <a:t>создать класс Spikes с методом OnCollid который принимает игрока и уменьшает его здоровье на 1</a:t>
            </a: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Basic">
  <a:themeElements>
    <a:clrScheme name="Office">
      <a:dk1>
        <a:srgbClr val="000000"/>
      </a:dk1>
      <a:lt1>
        <a:srgbClr val="FFFFFF"/>
      </a:lt1>
      <a:dk2>
        <a:srgbClr val="3D5166"/>
      </a:dk2>
      <a:lt2>
        <a:srgbClr val="E5E6E7"/>
      </a:lt2>
      <a:accent1>
        <a:srgbClr val="D15757"/>
      </a:accent1>
      <a:accent2>
        <a:srgbClr val="E8B448"/>
      </a:accent2>
      <a:accent3>
        <a:srgbClr val="91C25F"/>
      </a:accent3>
      <a:accent4>
        <a:srgbClr val="3EB07E"/>
      </a:accent4>
      <a:accent5>
        <a:srgbClr val="36A6D6"/>
      </a:accent5>
      <a:accent6>
        <a:srgbClr val="367FCB"/>
      </a:accent6>
      <a:hlink>
        <a:srgbClr val="367FCB"/>
      </a:hlink>
      <a:folHlink>
        <a:srgbClr val="965E99"/>
      </a:folHlink>
    </a:clrScheme>
    <a:fontScheme name="Office">
      <a:majorFont>
        <a:latin typeface="XO Oriel"/>
        <a:ea typeface=""/>
        <a:cs typeface=""/>
      </a:majorFont>
      <a:minorFont>
        <a:latin typeface="XO Orie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MyOffice-CoreFramework-Windows/36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2025-12-21T13:35:39Z</dcterms:created>
  <dcterms:modified xsi:type="dcterms:W3CDTF">2025-12-22T09:38:53Z</dcterms:modified>
</cp:coreProperties>
</file>